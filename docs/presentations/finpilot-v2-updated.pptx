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f05603a4b9485e" /><Relationship Type="http://schemas.openxmlformats.org/officeDocument/2006/relationships/extended-properties" Target="/docProps/app.xml" Id="R9d0547c6f34b46b4" /><Relationship Type="http://schemas.openxmlformats.org/officeDocument/2006/relationships/officeDocument" Target="/ppt/presentation.xml" Id="Rd10258bb644e4b2c" /></Relationships>
</file>

<file path=ppt/presentation.xml><?xml version="1.0" encoding="utf-8"?>
<p:presentation xmlns:p="http://schemas.openxmlformats.org/presentationml/2006/main">
  <p:sldMasterIdLst>
    <p:sldMasterId xmlns:r="http://schemas.openxmlformats.org/officeDocument/2006/relationships" id="2147483648" r:id="Ra76b70e10ad24701"/>
  </p:sldMasterIdLst>
  <p:notesMasterIdLst>
    <p:notesMasterId xmlns:r="http://schemas.openxmlformats.org/officeDocument/2006/relationships" r:id="R405c811bf5c7463f"/>
  </p:notesMasterIdLst>
  <p:sldIdLst>
    <p:sldId xmlns:r="http://schemas.openxmlformats.org/officeDocument/2006/relationships" id="256" r:id="R4315bcea6a4f4e92"/>
    <p:sldId xmlns:r="http://schemas.openxmlformats.org/officeDocument/2006/relationships" id="257" r:id="R9aa2461c1ad74aa6"/>
    <p:sldId xmlns:r="http://schemas.openxmlformats.org/officeDocument/2006/relationships" id="258" r:id="R8608550a7ce4443a"/>
    <p:sldId xmlns:r="http://schemas.openxmlformats.org/officeDocument/2006/relationships" id="259" r:id="R6030dcf0d58d4956"/>
    <p:sldId xmlns:r="http://schemas.openxmlformats.org/officeDocument/2006/relationships" id="260" r:id="Rd2868c9ea857416e"/>
    <p:sldId xmlns:r="http://schemas.openxmlformats.org/officeDocument/2006/relationships" id="261" r:id="Ra190b7f07b464b22"/>
    <p:sldId xmlns:r="http://schemas.openxmlformats.org/officeDocument/2006/relationships" id="262" r:id="R4b95cace773b48b4"/>
    <p:sldId xmlns:r="http://schemas.openxmlformats.org/officeDocument/2006/relationships" id="263" r:id="Ree209d130272457a"/>
    <p:sldId xmlns:r="http://schemas.openxmlformats.org/officeDocument/2006/relationships" id="264" r:id="R1cefff909c564e51"/>
    <p:sldId xmlns:r="http://schemas.openxmlformats.org/officeDocument/2006/relationships" id="265" r:id="Rca64a91ab92941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636f7a71904734" /><Relationship Type="http://schemas.openxmlformats.org/officeDocument/2006/relationships/slideMaster" Target="/ppt/slideMasters/slideMaster1.xml" Id="Ra76b70e10ad24701" /><Relationship Type="http://schemas.openxmlformats.org/officeDocument/2006/relationships/notesMaster" Target="/ppt/notesMasters/notesMaster1.xml" Id="R405c811bf5c7463f" /><Relationship Type="http://schemas.openxmlformats.org/officeDocument/2006/relationships/presProps" Target="/ppt/presProps.xml" Id="R14f966347dd54e1b" /><Relationship Type="http://schemas.openxmlformats.org/officeDocument/2006/relationships/tableStyles" Target="/ppt/tableStyles.xml" Id="Re8e31c260983439c" /><Relationship Type="http://schemas.openxmlformats.org/officeDocument/2006/relationships/slide" Target="/ppt/slides/slide1.xml" Id="R4315bcea6a4f4e92" /><Relationship Type="http://schemas.openxmlformats.org/officeDocument/2006/relationships/slide" Target="/ppt/slides/slide2.xml" Id="R9aa2461c1ad74aa6" /><Relationship Type="http://schemas.openxmlformats.org/officeDocument/2006/relationships/slide" Target="/ppt/slides/slide3.xml" Id="R8608550a7ce4443a" /><Relationship Type="http://schemas.openxmlformats.org/officeDocument/2006/relationships/slide" Target="/ppt/slides/slide4.xml" Id="R6030dcf0d58d4956" /><Relationship Type="http://schemas.openxmlformats.org/officeDocument/2006/relationships/slide" Target="/ppt/slides/slide5.xml" Id="Rd2868c9ea857416e" /><Relationship Type="http://schemas.openxmlformats.org/officeDocument/2006/relationships/slide" Target="/ppt/slides/slide6.xml" Id="Ra190b7f07b464b22" /><Relationship Type="http://schemas.openxmlformats.org/officeDocument/2006/relationships/slide" Target="/ppt/slides/slide7.xml" Id="R4b95cace773b48b4" /><Relationship Type="http://schemas.openxmlformats.org/officeDocument/2006/relationships/slide" Target="/ppt/slides/slide8.xml" Id="Ree209d130272457a" /><Relationship Type="http://schemas.openxmlformats.org/officeDocument/2006/relationships/slide" Target="/ppt/slides/slide9.xml" Id="R1cefff909c564e51" /><Relationship Type="http://schemas.openxmlformats.org/officeDocument/2006/relationships/slide" Target="/ppt/slides/slide10.xml" Id="Rca64a91ab92941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e61c4685b545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700bd532404a4f" /><Relationship Type="http://schemas.openxmlformats.org/officeDocument/2006/relationships/notesMaster" Target="/ppt/notesMasters/notesMaster1.xml" Id="R795d4f91f4af47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a169cbd78e41cd" /><Relationship Type="http://schemas.openxmlformats.org/officeDocument/2006/relationships/notesMaster" Target="/ppt/notesMasters/notesMaster1.xml" Id="R102b61dfef3a49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c1ad1a2bcb4cce" /><Relationship Type="http://schemas.openxmlformats.org/officeDocument/2006/relationships/notesMaster" Target="/ppt/notesMasters/notesMaster1.xml" Id="R7e83b6d2bcff43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dd3e9fe619401b" /><Relationship Type="http://schemas.openxmlformats.org/officeDocument/2006/relationships/notesMaster" Target="/ppt/notesMasters/notesMaster1.xml" Id="Ree6e0f31d772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db244d43a14f40" /><Relationship Type="http://schemas.openxmlformats.org/officeDocument/2006/relationships/notesMaster" Target="/ppt/notesMasters/notesMaster1.xml" Id="Re302fbd1b9304f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7035cb6f2b47b5" /><Relationship Type="http://schemas.openxmlformats.org/officeDocument/2006/relationships/notesMaster" Target="/ppt/notesMasters/notesMaster1.xml" Id="R3bacdd55016c48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c402d505f14fd2" /><Relationship Type="http://schemas.openxmlformats.org/officeDocument/2006/relationships/notesMaster" Target="/ppt/notesMasters/notesMaster1.xml" Id="R26fa3d3611cc43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2a3decc61a4a85" /><Relationship Type="http://schemas.openxmlformats.org/officeDocument/2006/relationships/notesMaster" Target="/ppt/notesMasters/notesMaster1.xml" Id="R929992b7db2645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1e4717332c4232" /><Relationship Type="http://schemas.openxmlformats.org/officeDocument/2006/relationships/notesMaster" Target="/ppt/notesMasters/notesMaster1.xml" Id="R6645a31609a84d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ab702f7af54514" /><Relationship Type="http://schemas.openxmlformats.org/officeDocument/2006/relationships/notesMaster" Target="/ppt/notesMasters/notesMaster1.xml" Id="Rd5fc75f57c7d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00:00–00:40 | 40 seconds</a:t>
            </a:r>
          </a:p>
          <a:p xmlns:a="http://schemas.openxmlformats.org/drawingml/2006/main">
            <a:r>
              <a:t>FinPilot is an agentic AI financial assistant that handles education, market, news, portfolio, planning, and tax questions, by routing each request to a specialized agent, with scoped tool access and guardrails. Each task needs a different approach. Finance and Tax need reliable evidence, Portfolio needs scoped customer records, and Goals needs accurate calculations. This MVP connects six specialists within one application. Let me show you how they work together. Synthetic portfolios and simulated identity are used for the MVP.</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00:40–01:35 | 55 seconds</a:t>
            </a:r>
          </a:p>
          <a:p xmlns:a="http://schemas.openxmlformats.org/drawingml/2006/main">
            <a:r>
              <a:t>Read this architecture in three groups. On the left, Streamlit sends questions through FastAPI. In the middle, LangGraph runs input checks and an intent router, then selects one specialist. Finance and Tax use Qdrant RAG. Portfolio uses scoped SQLite tools. Goals uses local calculators. Market connects through a Twelve Data MCP subprocess. News calls Tavily directly. On the right are providers, stores and LangSmith. Human-in-the-loop clarification uses SQLite checkpoints and the same thread on resume. The UI shows session chat history. A fresh question does not automatically send that visible history to the agent. Output redaction and API validation precede the response. Point out the main groups, without reading every box. Diagram source: docs/architecture/assets/finpilot-architecture-v2.svg.</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01:35–02:30 | 55 seconds</a:t>
            </a:r>
          </a:p>
          <a:p xmlns:a="http://schemas.openxmlformats.org/drawingml/2006/main">
            <a:r>
              <a:t>The Finance specialist starts with a curated handbook. Offline ingestion creates LangChain Documents, then recursive splitting creates 800-character chunks with 120-character overlap. OpenAI dense embeddings and FastEmbed Qdrant/bm25 sparse vectors go into finance_education_hybrid. Online, eligible definition questions first check a semantic answer cache. Otherwise Qdrant hybrid search combines dense and sparse rankings using Reciprocal Rank Fusion. Evidence coverage can trigger Evidence Expansion or a Targeted Query Rewrite for missing facts. The total limit is three retrieval actions, with a shared cap of 15 passages and 30,000 characters. Baseline exposes up to three passages. Explicit supported metadata can filter retrieval. The optional cross-encoder reranker is disabled by default. Retrieval timeout is 15 seconds. Point to the ETF answer and its source. If using the app, show the preloaded answer rather than waiting for a fresh request.</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02:30–03:15 | 45 seconds</a:t>
            </a:r>
          </a:p>
          <a:p xmlns:a="http://schemas.openxmlformats.org/drawingml/2006/main">
            <a:r>
              <a:t>Tax reuses the Finance retrieval pipeline with a separate tax_education_hybrid collection and semantic answer cache. Curated JSONL records are split and indexed. The important difference is constraint preservation: a requested tax year stays attached to retrieval and recovery, alongside supported metadata such as forms and topic. Baseline exposes up to five passages. Expansion exposes up to ten, subject to the shared three-action limit and evidence caps. The specialist cites available evidence and reports missing support. Its calculator covers limited 2026 federal ordinary income tax before credits and payments. It is not a full tax return. Point to the W-2 answer and citation in the screenshot.</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03:15–04:10 | 55 seconds</a:t>
            </a:r>
          </a:p>
          <a:p xmlns:a="http://schemas.openxmlformats.org/drawingml/2006/main">
            <a:r>
              <a:t>Here the source is relational data rather than RAG. In-memory SQLite holds synthetic managers, assignments, holdings, profiles and frozen prices. The model chooses an operation. Python tools enforce scope and compute values, unrealized gains and losses, allocation and concentration. A manager can screen and compare assigned customers. A customer is scoped to their own record. Stored goals and risk tolerance are synthetic onboarding attributes. They are not inferred from holdings. Real authentication is deferred. Show PM001 and the customer list, then open Emma if the app is ready. No trades or brokerage actions occur.</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04:10–05:10 | 60 seconds</a:t>
            </a:r>
          </a:p>
          <a:p xmlns:a="http://schemas.openxmlformats.org/drawingml/2006/main">
            <a:r>
              <a:t>Market uses observations from Twelve Data, reached through a local MCP subprocess. It can resolve symbols, get quotes and retrieve time series. Local deterministic tools compute growth and observed extrema. The UI supports daily or weekly charts and two-stock comparison. Provider metadata, observation timestamps and coverage caveats accompany results. An in-process TTL/LRU cache reuses responses and shares identical requests already in flight. Only eligible transient failures get retries, with three attempts total. The overall agent timeout is 30 seconds. Per-MCP-attempt timeout and jitter remain deferred. Historical output is capped at 100 observations, with extrema windows capped at 100 calendar days. Show AAPL’s chart and observation time without reading provider prices as independently verified facts.</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05:10–05:55 | 45 seconds</a:t>
            </a:r>
          </a:p>
          <a:p xmlns:a="http://schemas.openxmlformats.org/drawingml/2006/main">
            <a:r>
              <a:t>Goals turns a target or contribution into a deterministic calculation. Four tools answer how much to contribute, what savings could become, how long a target takes and whether a deadline is feasible. Essential missing inputs can trigger checkpointed clarification. Defaults for starting savings and assumed return are zero when omitted. Results disclose assumptions and shortfalls. No external provider or RAG is involved. The screenshot is the separate local UI scenario calculator, which does not run through the chat agent. If showing the app, change a contribution and show the recalculated balance.</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05:55–06:45 | 50 seconds</a:t>
            </a:r>
          </a:p>
          <a:p xmlns:a="http://schemas.openxmlformats.org/drawingml/2006/main">
            <a:r>
              <a:t>News calls Tavily directly over HTTPS rather than MCP. The selected category, custom topic and requested period establish search scope. Tavily’s generated answer is disabled. It supplies article evidence, while FinPilot checks coverage and writes the summary. A missing aspect can trigger a focused follow-up search within the three-search total. Original URLs are attached, and missing dates are not invented. Out-of-domain questions use unsupported handling. There is no Qdrant news index or persistent response cache. The provider defaults to a rolling week when no dates are supplied. Returned dates are not strictly post-filtered, so do not promise a hard publication cutoff. Show the preloaded result, source and partial-coverage notice.</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06:45–07:40 | 55 seconds</a:t>
            </a:r>
          </a:p>
          <a:p xmlns:a="http://schemas.openxmlformats.org/drawingml/2006/main">
            <a:r>
              <a:t>These controls span all agent workflows. Input checks redact PII and examine supported policy rules, injection and moderation. Availability and configuration govern external checks. Output handling redacts PII, supplies an empty-answer fallback and validates API responses. A specialist can pause using a LangGraph interrupt. SQLite checkpoints preserve execution, and the user’s reply resumes the same thread. This is execution memory. The UI keeps session chat history, while long-term user memory is not implemented. Timeouts, iteration limits, semantic caching and provider caching control latency and cost. Most reasoning uses gpt-4o-mini. The diagram’s identity is simulated for this MVP. Do not describe the output as a Guardrails AI toxicity pipeline, because that is not implemented.</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07:40–09:10 | 90 seconds. Leave 50 seconds of buffer before 10:00.</a:t>
            </a:r>
          </a:p>
          <a:p xmlns:a="http://schemas.openxmlformats.org/drawingml/2006/main">
            <a:r>
              <a:t>Evaluation and tracing answer different questions. Evaluation checks expected behavior against cases. The repository includes router JSONL cases, prompt variants A and B, and evaluators for intent, handler and route correctness. Experiments can be published to LangSmith. No measured score or completed experiment result is asserted in this deck. Tracing shows what happened in a particular request. This ETF trace links guardrails, routing, the Finance specialist, semantic cache activity and RAG execution under one request. Inside retrieval we can inspect dense embeddings, sparse encoding and Qdrant RRF. Timings, tokens and cost describe that run. The shown trace follows baseline retrieval, so it does not prove expansion or targeted rewrite ran. If the prepared LangSmith tab is ready, spend up to 30 seconds expanding finance_rag_query. Otherwise use this screenshot. Conclude: FinPilot separates financial tasks into six specialists, connects each to the appropriate evidence or calculator, and makes the execution inspectable. Broader answer-quality evaluation and real identity are next steps.</a:t>
            </a:r>
          </a:p>
          <a:p xmlns:a="http://schemas.openxmlformats.org/drawingml/2006/main">
            <a:r>
              <a:t/>
            </a:r>
          </a:p>
          <a:p xmlns:a="http://schemas.openxmlformats.org/drawingml/2006/main">
            <a:r>
              <a:t>Sources: docs/finpilot-mvp-overview.md; docs/evaluation.md; docs/cost-optimization.md. UI images: actual local captures in docs/architecture/assets/ui/. Synthetic portfolios and provider snapshots illustrate application behavior. No evaluation scores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ed426971684e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1650b79dcc45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ece8caf6b04e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ce304fca1140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4f2eae51cb4b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c320aa2a9145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7C79F5-6B26-4F1D-A017-2D65074E1D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B9267D-E359-4366-90FC-2D96347414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9AEA9F-2052-4B5F-B1F7-8C94994BD3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BEA926-D4DE-4D63-8A46-FEF6A6DAD0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CEE488-9D58-4481-B91D-F01F39FEA7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07F8BD-82E1-4FB2-8EFF-DE6ECF2B30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CD71C5-A896-4D0C-85CF-E1E63D8E81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E3F6C8-3784-4F60-830B-D622CA495B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8CF49-9CD0-4DD9-B5CF-301CD80905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1C8FFC-8E5E-434D-9F27-D6106D2A09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6f1bb36fe74b51" /><Relationship Type="http://schemas.openxmlformats.org/officeDocument/2006/relationships/slideLayout" Target="/ppt/slideLayouts/slideLayout1.xml" Id="Ref3e1c18856a4b4b" /><Relationship Type="http://schemas.openxmlformats.org/officeDocument/2006/relationships/slideLayout" Target="/ppt/slideLayouts/slideLayout2.xml" Id="R9721e24095be48e1" /><Relationship Type="http://schemas.openxmlformats.org/officeDocument/2006/relationships/slideLayout" Target="/ppt/slideLayouts/slideLayout3.xml" Id="Rdadbf8c992fd41a8" /><Relationship Type="http://schemas.openxmlformats.org/officeDocument/2006/relationships/slideLayout" Target="/ppt/slideLayouts/slideLayout4.xml" Id="Ra12fd2c754344782" /><Relationship Type="http://schemas.openxmlformats.org/officeDocument/2006/relationships/slideLayout" Target="/ppt/slideLayouts/slideLayout5.xml" Id="Rb5273c4eb0174351" /><Relationship Type="http://schemas.openxmlformats.org/officeDocument/2006/relationships/slideLayout" Target="/ppt/slideLayouts/slideLayout6.xml" Id="R8194b33ca80848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3e1c18856a4b4b"/>
    <p:sldLayoutId xmlns:r="http://schemas.openxmlformats.org/officeDocument/2006/relationships" id="2147483650" r:id="R9721e24095be48e1"/>
    <p:sldLayoutId xmlns:r="http://schemas.openxmlformats.org/officeDocument/2006/relationships" id="2147483651" r:id="Rdadbf8c992fd41a8"/>
    <p:sldLayoutId xmlns:r="http://schemas.openxmlformats.org/officeDocument/2006/relationships" id="2147483652" r:id="Ra12fd2c754344782"/>
    <p:sldLayoutId xmlns:r="http://schemas.openxmlformats.org/officeDocument/2006/relationships" id="2147483653" r:id="Rb5273c4eb0174351"/>
    <p:sldLayoutId xmlns:r="http://schemas.openxmlformats.org/officeDocument/2006/relationships" id="2147483654" r:id="R8194b33ca80848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740eaba5ee4dab" /><Relationship Type="http://schemas.openxmlformats.org/officeDocument/2006/relationships/notesSlide" Target="/ppt/notesSlides/notesSlide1.xml" Id="Rd56433f099f348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497438b418485f" /><Relationship Type="http://schemas.openxmlformats.org/officeDocument/2006/relationships/notesSlide" Target="/ppt/notesSlides/notesSlide2.xml" Id="R5f06818a5cf941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caa59cec124a69" /><Relationship Type="http://schemas.openxmlformats.org/officeDocument/2006/relationships/image" Target="/ppt/media/image.png" Id="Rf113ed187f2847db" /><Relationship Type="http://schemas.openxmlformats.org/officeDocument/2006/relationships/notesSlide" Target="/ppt/notesSlides/notesSlide3.xml" Id="R9bbd40700daf41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414cbab61342aa" /><Relationship Type="http://schemas.openxmlformats.org/officeDocument/2006/relationships/image" Target="/ppt/media/image2.png" Id="Rbe66130aeb204dfe" /><Relationship Type="http://schemas.openxmlformats.org/officeDocument/2006/relationships/notesSlide" Target="/ppt/notesSlides/notesSlide4.xml" Id="R0d8819d2c79b4f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160cfa97a24e99" /><Relationship Type="http://schemas.openxmlformats.org/officeDocument/2006/relationships/image" Target="/ppt/media/image3.png" Id="R849ffaac19ce4ea9" /><Relationship Type="http://schemas.openxmlformats.org/officeDocument/2006/relationships/notesSlide" Target="/ppt/notesSlides/notesSlide5.xml" Id="R7ebb3f5fca474f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782ee1c1ac46dd" /><Relationship Type="http://schemas.openxmlformats.org/officeDocument/2006/relationships/image" Target="/ppt/media/image4.png" Id="R65e31152d4344c83" /><Relationship Type="http://schemas.openxmlformats.org/officeDocument/2006/relationships/notesSlide" Target="/ppt/notesSlides/notesSlide6.xml" Id="R8385c648903945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9d4b7e919d4aa0" /><Relationship Type="http://schemas.openxmlformats.org/officeDocument/2006/relationships/image" Target="/ppt/media/image5.png" Id="Raf628b6bf8e24314" /><Relationship Type="http://schemas.openxmlformats.org/officeDocument/2006/relationships/notesSlide" Target="/ppt/notesSlides/notesSlide7.xml" Id="R9a078a41033846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a34893061fa47ff" /><Relationship Type="http://schemas.openxmlformats.org/officeDocument/2006/relationships/image" Target="/ppt/media/image6.png" Id="Rf49e1e78fa194288" /><Relationship Type="http://schemas.openxmlformats.org/officeDocument/2006/relationships/notesSlide" Target="/ppt/notesSlides/notesSlide8.xml" Id="R2ed17018c97641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c7520c8563486d" /><Relationship Type="http://schemas.openxmlformats.org/officeDocument/2006/relationships/notesSlide" Target="/ppt/notesSlides/notesSlide9.xml" Id="R4e417d208fad4a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220c6558334f20" /><Relationship Type="http://schemas.openxmlformats.org/officeDocument/2006/relationships/image" Target="/ppt/media/image7.png" Id="R6be0a70eadc34dbd" /><Relationship Type="http://schemas.openxmlformats.org/officeDocument/2006/relationships/notesSlide" Target="/ppt/notesSlides/notesSlide10.xml" Id="R5a83316da0034b20" /></Relationships>
</file>

<file path=ppt/slides/slide1.xml><?xml version="1.0" encoding="utf-8"?>
<p:sld xmlns:p="http://schemas.openxmlformats.org/presentationml/2006/main">
  <p:cSld>
    <p:bg>
      <p:bgPr>
        <a:solidFill xmlns:a="http://schemas.openxmlformats.org/drawingml/2006/main">
          <a:srgbClr val="153E6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BDF6EC-E9B1-4603-9422-347FBBACDC1E}"/>
              </a:ext>
            </a:extLst>
          </p:cNvPr>
          <p:cNvSpPr>
            <a:spLocks xmlns:a="http://schemas.openxmlformats.org/drawingml/2006/main" noGrp="1"/>
          </p:cNvSpPr>
          <p:nvPr/>
        </p:nvSpPr>
        <p:spPr>
          <a:xfrm xmlns:a="http://schemas.openxmlformats.org/drawingml/2006/main">
            <a:off x="666750" y="8382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FinPilot</a:t>
            </a:r>
          </a:p>
        </p:txBody>
      </p:sp>
      <p:sp>
        <p:nvSpPr>
          <p:cNvPr id="2" name="">
            <a:extLst xmlns:a="http://schemas.openxmlformats.org/drawingml/2006/main">
              <a:ext uri="{FF2B5EF4-FFF2-40B4-BE49-F238E27FC236}">
                <a16:creationId xmlns:a16="http://schemas.microsoft.com/office/drawing/2014/main" id="{C2AFA864-7E27-44D3-B889-DAB6B95A2622}"/>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D2E7EE"/>
                </a:solidFill>
                <a:latin typeface="Arial"/>
                <a:ea typeface="Arial"/>
                <a:cs typeface="Arial"/>
              </a:defRPr>
            </a:defPPr>
          </a:lstStyle>
          <a:p xmlns:a="http://schemas.openxmlformats.org/drawingml/2006/main">
            <a:pPr>
              <a:defRPr sz="1125" b="0">
                <a:solidFill>
                  <a:srgbClr val="D2E7EE"/>
                </a:solidFill>
                <a:latin typeface="Arial"/>
                <a:ea typeface="Arial"/>
                <a:cs typeface="Arial"/>
              </a:defRPr>
            </a:pPr>
            <a:r>
              <a:rPr sz="1125" b="0">
                <a:solidFill>
                  <a:srgbClr val="D2E7EE"/>
                </a:solidFill>
                <a:latin typeface="Arial"/>
                <a:ea typeface="Arial"/>
                <a:cs typeface="Arial"/>
              </a:rPr>
              <a:t>FinPilot   1 / 10</a:t>
            </a:r>
          </a:p>
        </p:txBody>
      </p:sp>
      <p:sp>
        <p:nvSpPr>
          <p:cNvPr id="3" name="">
            <a:extLst xmlns:a="http://schemas.openxmlformats.org/drawingml/2006/main">
              <a:ext uri="{FF2B5EF4-FFF2-40B4-BE49-F238E27FC236}">
                <a16:creationId xmlns:a16="http://schemas.microsoft.com/office/drawing/2014/main" id="{DC0964EC-2BCA-48D3-97BE-57CC7179768B}"/>
              </a:ext>
            </a:extLst>
          </p:cNvPr>
          <p:cNvSpPr>
            <a:spLocks xmlns:a="http://schemas.openxmlformats.org/drawingml/2006/main" noGrp="1"/>
          </p:cNvSpPr>
          <p:nvPr/>
        </p:nvSpPr>
        <p:spPr>
          <a:xfrm xmlns:a="http://schemas.openxmlformats.org/drawingml/2006/main">
            <a:off x="666750" y="2333625"/>
            <a:ext cx="10477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FinPilot is an agentic AI financial assistant that handles education, market, news, portfolio, planning, and tax questions, by routing each request to a specialized agent, with scoped tool access and guardrails.</a:t>
            </a:r>
          </a:p>
        </p:txBody>
      </p:sp>
      <p:sp>
        <p:nvSpPr>
          <p:cNvPr id="4" name="">
            <a:extLst xmlns:a="http://schemas.openxmlformats.org/drawingml/2006/main">
              <a:ext uri="{FF2B5EF4-FFF2-40B4-BE49-F238E27FC236}">
                <a16:creationId xmlns:a16="http://schemas.microsoft.com/office/drawing/2014/main" id="{34A58E6B-79C3-4C33-AFBB-C1DCA3FCC306}"/>
              </a:ext>
            </a:extLst>
          </p:cNvPr>
          <p:cNvSpPr>
            <a:spLocks xmlns:a="http://schemas.openxmlformats.org/drawingml/2006/main" noGrp="1"/>
          </p:cNvSpPr>
          <p:nvPr/>
        </p:nvSpPr>
        <p:spPr>
          <a:xfrm xmlns:a="http://schemas.openxmlformats.org/drawingml/2006/main">
            <a:off x="666750" y="533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2E7EE"/>
                </a:solidFill>
                <a:latin typeface="Arial"/>
                <a:ea typeface="Arial"/>
                <a:cs typeface="Arial"/>
              </a:defRPr>
            </a:defPPr>
          </a:lstStyle>
          <a:p xmlns:a="http://schemas.openxmlformats.org/drawingml/2006/main">
            <a:pPr>
              <a:defRPr sz="1875" b="0">
                <a:solidFill>
                  <a:srgbClr val="D2E7EE"/>
                </a:solidFill>
                <a:latin typeface="Arial"/>
                <a:ea typeface="Arial"/>
                <a:cs typeface="Arial"/>
              </a:defRPr>
            </a:pPr>
            <a:r>
              <a:rPr sz="1875" b="0">
                <a:solidFill>
                  <a:srgbClr val="D2E7EE"/>
                </a:solidFill>
                <a:latin typeface="Arial"/>
                <a:ea typeface="Arial"/>
                <a:cs typeface="Arial"/>
              </a:rPr>
              <a:t>10-minute MVP demonstration</a:t>
            </a:r>
          </a:p>
        </p:txBody>
      </p:sp>
    </p:spTree>
    <p:extLst>
      <p:ext uri="{BB962C8B-B14F-4D97-AF65-F5344CB8AC3E}">
        <p14:creationId xmlns:p14="http://schemas.microsoft.com/office/powerpoint/2010/main" val="12742837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3" name="">
            <a:extLst xmlns:a="http://schemas.openxmlformats.org/drawingml/2006/main">
              <a:ext uri="{FF2B5EF4-FFF2-40B4-BE49-F238E27FC236}">
                <a16:creationId xmlns:a16="http://schemas.microsoft.com/office/drawing/2014/main" id="{64893106-5FD5-4DEF-846E-67A3235E67D7}"/>
              </a:ext>
            </a:extLst>
          </p:cNvPr>
          <p:cNvCxnSpPr>
            <a:stCxn xmlns:a="http://schemas.openxmlformats.org/drawingml/2006/main" id="49" idx="2"/>
            <a:endCxn xmlns:a="http://schemas.openxmlformats.org/drawingml/2006/main" id="51" idx="0"/>
          </p:cNvCxnSpPr>
          <p:nvPr/>
        </p:nvCxnSpPr>
        <p:spPr>
          <a:xfrm xmlns:a="http://schemas.openxmlformats.org/drawingml/2006/main">
            <a:off x="10715625"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47" name="">
            <a:extLst xmlns:a="http://schemas.openxmlformats.org/drawingml/2006/main">
              <a:ext uri="{FF2B5EF4-FFF2-40B4-BE49-F238E27FC236}">
                <a16:creationId xmlns:a16="http://schemas.microsoft.com/office/drawing/2014/main" id="{5EF52D96-41A0-4BE4-9EE1-A1DA9E80D167}"/>
              </a:ext>
            </a:extLst>
          </p:cNvPr>
          <p:cNvCxnSpPr>
            <a:stCxn xmlns:a="http://schemas.openxmlformats.org/drawingml/2006/main" id="43" idx="2"/>
            <a:endCxn xmlns:a="http://schemas.openxmlformats.org/drawingml/2006/main" id="45" idx="0"/>
          </p:cNvCxnSpPr>
          <p:nvPr/>
        </p:nvCxnSpPr>
        <p:spPr>
          <a:xfrm xmlns:a="http://schemas.openxmlformats.org/drawingml/2006/main">
            <a:off x="8858250"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41" name="">
            <a:extLst xmlns:a="http://schemas.openxmlformats.org/drawingml/2006/main">
              <a:ext uri="{FF2B5EF4-FFF2-40B4-BE49-F238E27FC236}">
                <a16:creationId xmlns:a16="http://schemas.microsoft.com/office/drawing/2014/main" id="{EABB91F8-E8BB-47F9-8091-53A23B673CF5}"/>
              </a:ext>
            </a:extLst>
          </p:cNvPr>
          <p:cNvCxnSpPr>
            <a:stCxn xmlns:a="http://schemas.openxmlformats.org/drawingml/2006/main" id="37" idx="2"/>
            <a:endCxn xmlns:a="http://schemas.openxmlformats.org/drawingml/2006/main" id="39" idx="0"/>
          </p:cNvCxnSpPr>
          <p:nvPr/>
        </p:nvCxnSpPr>
        <p:spPr>
          <a:xfrm xmlns:a="http://schemas.openxmlformats.org/drawingml/2006/main">
            <a:off x="7000875"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35" name="">
            <a:extLst xmlns:a="http://schemas.openxmlformats.org/drawingml/2006/main">
              <a:ext uri="{FF2B5EF4-FFF2-40B4-BE49-F238E27FC236}">
                <a16:creationId xmlns:a16="http://schemas.microsoft.com/office/drawing/2014/main" id="{4B474503-8FB5-4005-A30B-CDC6EA305E62}"/>
              </a:ext>
            </a:extLst>
          </p:cNvPr>
          <p:cNvCxnSpPr>
            <a:stCxn xmlns:a="http://schemas.openxmlformats.org/drawingml/2006/main" id="31" idx="2"/>
            <a:endCxn xmlns:a="http://schemas.openxmlformats.org/drawingml/2006/main" id="33" idx="0"/>
          </p:cNvCxnSpPr>
          <p:nvPr/>
        </p:nvCxnSpPr>
        <p:spPr>
          <a:xfrm xmlns:a="http://schemas.openxmlformats.org/drawingml/2006/main">
            <a:off x="5143500"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29" name="">
            <a:extLst xmlns:a="http://schemas.openxmlformats.org/drawingml/2006/main">
              <a:ext uri="{FF2B5EF4-FFF2-40B4-BE49-F238E27FC236}">
                <a16:creationId xmlns:a16="http://schemas.microsoft.com/office/drawing/2014/main" id="{96D2A4B5-DF80-4FA9-AAB9-CB077D9FF010}"/>
              </a:ext>
            </a:extLst>
          </p:cNvPr>
          <p:cNvCxnSpPr>
            <a:stCxn xmlns:a="http://schemas.openxmlformats.org/drawingml/2006/main" id="25" idx="2"/>
            <a:endCxn xmlns:a="http://schemas.openxmlformats.org/drawingml/2006/main" id="27" idx="0"/>
          </p:cNvCxnSpPr>
          <p:nvPr/>
        </p:nvCxnSpPr>
        <p:spPr>
          <a:xfrm xmlns:a="http://schemas.openxmlformats.org/drawingml/2006/main">
            <a:off x="3286125"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23" name="">
            <a:extLst xmlns:a="http://schemas.openxmlformats.org/drawingml/2006/main">
              <a:ext uri="{FF2B5EF4-FFF2-40B4-BE49-F238E27FC236}">
                <a16:creationId xmlns:a16="http://schemas.microsoft.com/office/drawing/2014/main" id="{0C89B77B-82B0-4C05-A8EC-5ED1F40BA4A8}"/>
              </a:ext>
            </a:extLst>
          </p:cNvPr>
          <p:cNvCxnSpPr>
            <a:stCxn xmlns:a="http://schemas.openxmlformats.org/drawingml/2006/main" id="19" idx="2"/>
            <a:endCxn xmlns:a="http://schemas.openxmlformats.org/drawingml/2006/main" id="21" idx="0"/>
          </p:cNvCxnSpPr>
          <p:nvPr/>
        </p:nvCxnSpPr>
        <p:spPr>
          <a:xfrm xmlns:a="http://schemas.openxmlformats.org/drawingml/2006/main">
            <a:off x="1428750" y="3124200"/>
            <a:ext cx="0" cy="40005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15" name="">
            <a:extLst xmlns:a="http://schemas.openxmlformats.org/drawingml/2006/main">
              <a:ext uri="{FF2B5EF4-FFF2-40B4-BE49-F238E27FC236}">
                <a16:creationId xmlns:a16="http://schemas.microsoft.com/office/drawing/2014/main" id="{F2F196A2-801B-47C7-B379-28F5A2CF480C}"/>
              </a:ext>
            </a:extLst>
          </p:cNvPr>
          <p:cNvCxnSpPr>
            <a:stCxn xmlns:a="http://schemas.openxmlformats.org/drawingml/2006/main" id="7" idx="3"/>
            <a:endCxn xmlns:a="http://schemas.openxmlformats.org/drawingml/2006/main" id="9" idx="1"/>
          </p:cNvCxnSpPr>
          <p:nvPr/>
        </p:nvCxnSpPr>
        <p:spPr>
          <a:xfrm xmlns:a="http://schemas.openxmlformats.org/drawingml/2006/main">
            <a:off x="8048625" y="1500188"/>
            <a:ext cx="428625" cy="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14" name="">
            <a:extLst xmlns:a="http://schemas.openxmlformats.org/drawingml/2006/main">
              <a:ext uri="{FF2B5EF4-FFF2-40B4-BE49-F238E27FC236}">
                <a16:creationId xmlns:a16="http://schemas.microsoft.com/office/drawing/2014/main" id="{62FBF909-BA8D-424D-A259-C79D4A50D0EB}"/>
              </a:ext>
            </a:extLst>
          </p:cNvPr>
          <p:cNvCxnSpPr>
            <a:stCxn xmlns:a="http://schemas.openxmlformats.org/drawingml/2006/main" id="5" idx="3"/>
            <a:endCxn xmlns:a="http://schemas.openxmlformats.org/drawingml/2006/main" id="7" idx="1"/>
          </p:cNvCxnSpPr>
          <p:nvPr/>
        </p:nvCxnSpPr>
        <p:spPr>
          <a:xfrm xmlns:a="http://schemas.openxmlformats.org/drawingml/2006/main">
            <a:off x="4953000" y="1500188"/>
            <a:ext cx="428625" cy="0"/>
          </a:xfrm>
          <a:prstGeom xmlns:a="http://schemas.openxmlformats.org/drawingml/2006/main" prst="straightConnector1">
            <a:avLst/>
          </a:prstGeom>
          <a:ln xmlns:a="http://schemas.openxmlformats.org/drawingml/2006/main" w="19050">
            <a:solidFill>
              <a:srgbClr val="68849C"/>
            </a:solidFill>
            <a:tailEnd type="arrow" w="med" len="med"/>
          </a:ln>
        </p:spPr>
      </p:cxnSp>
      <p:cxnSp>
        <p:nvCxnSpPr>
          <p:cNvPr id="13" name="">
            <a:extLst xmlns:a="http://schemas.openxmlformats.org/drawingml/2006/main">
              <a:ext uri="{FF2B5EF4-FFF2-40B4-BE49-F238E27FC236}">
                <a16:creationId xmlns:a16="http://schemas.microsoft.com/office/drawing/2014/main" id="{C3A89259-529D-4142-89B9-BC0E6C3055D7}"/>
              </a:ext>
            </a:extLst>
          </p:cNvPr>
          <p:cNvCxnSpPr>
            <a:stCxn xmlns:a="http://schemas.openxmlformats.org/drawingml/2006/main" id="3" idx="3"/>
            <a:endCxn xmlns:a="http://schemas.openxmlformats.org/drawingml/2006/main" id="5" idx="1"/>
          </p:cNvCxnSpPr>
          <p:nvPr/>
        </p:nvCxnSpPr>
        <p:spPr>
          <a:xfrm xmlns:a="http://schemas.openxmlformats.org/drawingml/2006/main">
            <a:off x="2619375" y="1500188"/>
            <a:ext cx="428625" cy="0"/>
          </a:xfrm>
          <a:prstGeom xmlns:a="http://schemas.openxmlformats.org/drawingml/2006/main" prst="straightConnector1">
            <a:avLst/>
          </a:prstGeom>
          <a:ln xmlns:a="http://schemas.openxmlformats.org/drawingml/2006/main" w="19050">
            <a:solidFill>
              <a:srgbClr val="68849C"/>
            </a:solidFill>
            <a:tailEnd type="arrow" w="med" len="med"/>
          </a:ln>
        </p:spPr>
      </p:cxnSp>
      <p:sp>
        <p:nvSpPr>
          <p:cNvPr id="61" name="">
            <a:extLst xmlns:a="http://schemas.openxmlformats.org/drawingml/2006/main">
              <a:ext uri="{FF2B5EF4-FFF2-40B4-BE49-F238E27FC236}">
                <a16:creationId xmlns:a16="http://schemas.microsoft.com/office/drawing/2014/main" id="{92205759-32B3-4462-B47A-DF9159F81028}"/>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BBFF2BAC-9C22-4539-B6F2-3B5FCA1A7E76}"/>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2 / 10</a:t>
            </a:r>
          </a:p>
        </p:txBody>
      </p:sp>
      <p:sp>
        <p:nvSpPr>
          <p:cNvPr id="3" name="">
            <a:extLst xmlns:a="http://schemas.openxmlformats.org/drawingml/2006/main">
              <a:ext uri="{FF2B5EF4-FFF2-40B4-BE49-F238E27FC236}">
                <a16:creationId xmlns:a16="http://schemas.microsoft.com/office/drawing/2014/main" id="{3D1F1327-ED5C-49F3-8F7B-07EEFC954F25}"/>
              </a:ext>
            </a:extLst>
          </p:cNvPr>
          <p:cNvSpPr>
            <a:spLocks xmlns:a="http://schemas.openxmlformats.org/drawingml/2006/main" noGrp="1"/>
          </p:cNvSpPr>
          <p:nvPr/>
        </p:nvSpPr>
        <p:spPr>
          <a:xfrm xmlns:a="http://schemas.openxmlformats.org/drawingml/2006/main">
            <a:off x="571500" y="1190625"/>
            <a:ext cx="2047875" cy="619125"/>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4" name="">
            <a:extLst xmlns:a="http://schemas.openxmlformats.org/drawingml/2006/main">
              <a:ext uri="{FF2B5EF4-FFF2-40B4-BE49-F238E27FC236}">
                <a16:creationId xmlns:a16="http://schemas.microsoft.com/office/drawing/2014/main" id="{53F748AB-02D5-4759-83C4-923B84D1CC81}"/>
              </a:ext>
            </a:extLst>
          </p:cNvPr>
          <p:cNvSpPr>
            <a:spLocks xmlns:a="http://schemas.openxmlformats.org/drawingml/2006/main" noGrp="1"/>
          </p:cNvSpPr>
          <p:nvPr/>
        </p:nvSpPr>
        <p:spPr>
          <a:xfrm xmlns:a="http://schemas.openxmlformats.org/drawingml/2006/main">
            <a:off x="685800" y="1304925"/>
            <a:ext cx="1819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24B"/>
                </a:solidFill>
                <a:latin typeface="Arial"/>
                <a:ea typeface="Arial"/>
                <a:cs typeface="Arial"/>
              </a:defRPr>
            </a:defPPr>
          </a:lstStyle>
          <a:p xmlns:a="http://schemas.openxmlformats.org/drawingml/2006/main">
            <a:pPr>
              <a:defRPr sz="1800" b="1">
                <a:solidFill>
                  <a:srgbClr val="17324B"/>
                </a:solidFill>
                <a:latin typeface="Arial"/>
                <a:ea typeface="Arial"/>
                <a:cs typeface="Arial"/>
              </a:defRPr>
            </a:pPr>
            <a:r>
              <a:rPr sz="1800" b="1">
                <a:solidFill>
                  <a:srgbClr val="17324B"/>
                </a:solidFill>
                <a:latin typeface="Arial"/>
                <a:ea typeface="Arial"/>
                <a:cs typeface="Arial"/>
              </a:rPr>
              <a:t>Streamlit UI</a:t>
            </a:r>
          </a:p>
        </p:txBody>
      </p:sp>
      <p:sp>
        <p:nvSpPr>
          <p:cNvPr id="5" name="">
            <a:extLst xmlns:a="http://schemas.openxmlformats.org/drawingml/2006/main">
              <a:ext uri="{FF2B5EF4-FFF2-40B4-BE49-F238E27FC236}">
                <a16:creationId xmlns:a16="http://schemas.microsoft.com/office/drawing/2014/main" id="{5298752D-E564-4326-89F8-BE2AF9E7AA7D}"/>
              </a:ext>
            </a:extLst>
          </p:cNvPr>
          <p:cNvSpPr>
            <a:spLocks xmlns:a="http://schemas.openxmlformats.org/drawingml/2006/main" noGrp="1"/>
          </p:cNvSpPr>
          <p:nvPr/>
        </p:nvSpPr>
        <p:spPr>
          <a:xfrm xmlns:a="http://schemas.openxmlformats.org/drawingml/2006/main">
            <a:off x="3048000" y="1190625"/>
            <a:ext cx="1905000" cy="6191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6" name="">
            <a:extLst xmlns:a="http://schemas.openxmlformats.org/drawingml/2006/main">
              <a:ext uri="{FF2B5EF4-FFF2-40B4-BE49-F238E27FC236}">
                <a16:creationId xmlns:a16="http://schemas.microsoft.com/office/drawing/2014/main" id="{B16FB4E7-49B9-4BF4-935B-1D6C534FDC2A}"/>
              </a:ext>
            </a:extLst>
          </p:cNvPr>
          <p:cNvSpPr>
            <a:spLocks xmlns:a="http://schemas.openxmlformats.org/drawingml/2006/main" noGrp="1"/>
          </p:cNvSpPr>
          <p:nvPr/>
        </p:nvSpPr>
        <p:spPr>
          <a:xfrm xmlns:a="http://schemas.openxmlformats.org/drawingml/2006/main">
            <a:off x="3162300" y="1304925"/>
            <a:ext cx="167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24B"/>
                </a:solidFill>
                <a:latin typeface="Arial"/>
                <a:ea typeface="Arial"/>
                <a:cs typeface="Arial"/>
              </a:defRPr>
            </a:defPPr>
          </a:lstStyle>
          <a:p xmlns:a="http://schemas.openxmlformats.org/drawingml/2006/main">
            <a:pPr>
              <a:defRPr sz="1800" b="1">
                <a:solidFill>
                  <a:srgbClr val="17324B"/>
                </a:solidFill>
                <a:latin typeface="Arial"/>
                <a:ea typeface="Arial"/>
                <a:cs typeface="Arial"/>
              </a:defRPr>
            </a:pPr>
            <a:r>
              <a:rPr sz="1800" b="1">
                <a:solidFill>
                  <a:srgbClr val="17324B"/>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4E503B20-E827-416C-90AD-9C5264802324}"/>
              </a:ext>
            </a:extLst>
          </p:cNvPr>
          <p:cNvSpPr>
            <a:spLocks xmlns:a="http://schemas.openxmlformats.org/drawingml/2006/main" noGrp="1"/>
          </p:cNvSpPr>
          <p:nvPr/>
        </p:nvSpPr>
        <p:spPr>
          <a:xfrm xmlns:a="http://schemas.openxmlformats.org/drawingml/2006/main">
            <a:off x="5381625" y="1190625"/>
            <a:ext cx="2667000" cy="6191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8" name="">
            <a:extLst xmlns:a="http://schemas.openxmlformats.org/drawingml/2006/main">
              <a:ext uri="{FF2B5EF4-FFF2-40B4-BE49-F238E27FC236}">
                <a16:creationId xmlns:a16="http://schemas.microsoft.com/office/drawing/2014/main" id="{6A289FF3-7F07-4F3B-AF9A-2C3FC248916A}"/>
              </a:ext>
            </a:extLst>
          </p:cNvPr>
          <p:cNvSpPr>
            <a:spLocks xmlns:a="http://schemas.openxmlformats.org/drawingml/2006/main" noGrp="1"/>
          </p:cNvSpPr>
          <p:nvPr/>
        </p:nvSpPr>
        <p:spPr>
          <a:xfrm xmlns:a="http://schemas.openxmlformats.org/drawingml/2006/main">
            <a:off x="5495925" y="1304925"/>
            <a:ext cx="2438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24B"/>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2A42D5E8-2C7B-48D0-B1B8-7B11E88CA34C}"/>
              </a:ext>
            </a:extLst>
          </p:cNvPr>
          <p:cNvSpPr>
            <a:spLocks xmlns:a="http://schemas.openxmlformats.org/drawingml/2006/main" noGrp="1"/>
          </p:cNvSpPr>
          <p:nvPr/>
        </p:nvSpPr>
        <p:spPr>
          <a:xfrm xmlns:a="http://schemas.openxmlformats.org/drawingml/2006/main">
            <a:off x="8477250" y="1190625"/>
            <a:ext cx="3095625" cy="6191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10" name="">
            <a:extLst xmlns:a="http://schemas.openxmlformats.org/drawingml/2006/main">
              <a:ext uri="{FF2B5EF4-FFF2-40B4-BE49-F238E27FC236}">
                <a16:creationId xmlns:a16="http://schemas.microsoft.com/office/drawing/2014/main" id="{772A3964-ED77-4D06-B321-3E814DE435CB}"/>
              </a:ext>
            </a:extLst>
          </p:cNvPr>
          <p:cNvSpPr>
            <a:spLocks xmlns:a="http://schemas.openxmlformats.org/drawingml/2006/main" noGrp="1"/>
          </p:cNvSpPr>
          <p:nvPr/>
        </p:nvSpPr>
        <p:spPr>
          <a:xfrm xmlns:a="http://schemas.openxmlformats.org/drawingml/2006/main">
            <a:off x="8591550" y="1304925"/>
            <a:ext cx="2867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24B"/>
                </a:solidFill>
                <a:latin typeface="Arial"/>
                <a:ea typeface="Arial"/>
                <a:cs typeface="Arial"/>
              </a:defRPr>
            </a:defPPr>
          </a:lstStyle>
          <a:p xmlns:a="http://schemas.openxmlformats.org/drawingml/2006/main">
            <a:pPr>
              <a:defRPr sz="1800" b="1">
                <a:solidFill>
                  <a:srgbClr val="17324B"/>
                </a:solidFill>
                <a:latin typeface="Arial"/>
                <a:ea typeface="Arial"/>
                <a:cs typeface="Arial"/>
              </a:defRPr>
            </a:pPr>
            <a:r>
              <a:rPr sz="1800" b="1">
                <a:solidFill>
                  <a:srgbClr val="17324B"/>
                </a:solidFill>
                <a:latin typeface="Arial"/>
                <a:ea typeface="Arial"/>
                <a:cs typeface="Arial"/>
              </a:rPr>
              <a:t>Intent router</a:t>
            </a:r>
          </a:p>
        </p:txBody>
      </p:sp>
      <p:sp>
        <p:nvSpPr>
          <p:cNvPr id="11" name="">
            <a:extLst xmlns:a="http://schemas.openxmlformats.org/drawingml/2006/main">
              <a:ext uri="{FF2B5EF4-FFF2-40B4-BE49-F238E27FC236}">
                <a16:creationId xmlns:a16="http://schemas.microsoft.com/office/drawing/2014/main" id="{6E985EF0-EB11-42A1-9AF8-B8A91256838E}"/>
              </a:ext>
            </a:extLst>
          </p:cNvPr>
          <p:cNvSpPr>
            <a:spLocks xmlns:a="http://schemas.openxmlformats.org/drawingml/2006/main" noGrp="1"/>
          </p:cNvSpPr>
          <p:nvPr/>
        </p:nvSpPr>
        <p:spPr>
          <a:xfrm xmlns:a="http://schemas.openxmlformats.org/drawingml/2006/main">
            <a:off x="5534025" y="1247775"/>
            <a:ext cx="236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24B"/>
                </a:solidFill>
                <a:latin typeface="Arial"/>
                <a:ea typeface="Arial"/>
                <a:cs typeface="Arial"/>
              </a:defRPr>
            </a:defPPr>
          </a:lstStyle>
          <a:p xmlns:a="http://schemas.openxmlformats.org/drawingml/2006/main">
            <a:pPr>
              <a:defRPr sz="1500" b="1">
                <a:solidFill>
                  <a:srgbClr val="17324B"/>
                </a:solidFill>
                <a:latin typeface="Arial"/>
                <a:ea typeface="Arial"/>
                <a:cs typeface="Arial"/>
              </a:defRPr>
            </a:pPr>
            <a:r>
              <a:rPr sz="1500" b="1">
                <a:solidFill>
                  <a:srgbClr val="17324B"/>
                </a:solidFill>
                <a:latin typeface="Arial"/>
                <a:ea typeface="Arial"/>
                <a:cs typeface="Arial"/>
              </a:rPr>
              <a:t>Input guardrails</a:t>
            </a:r>
          </a:p>
        </p:txBody>
      </p:sp>
      <p:sp>
        <p:nvSpPr>
          <p:cNvPr id="12" name="">
            <a:extLst xmlns:a="http://schemas.openxmlformats.org/drawingml/2006/main">
              <a:ext uri="{FF2B5EF4-FFF2-40B4-BE49-F238E27FC236}">
                <a16:creationId xmlns:a16="http://schemas.microsoft.com/office/drawing/2014/main" id="{6137739C-E05B-4195-8F12-532C7001D920}"/>
              </a:ext>
            </a:extLst>
          </p:cNvPr>
          <p:cNvSpPr>
            <a:spLocks xmlns:a="http://schemas.openxmlformats.org/drawingml/2006/main" noGrp="1"/>
          </p:cNvSpPr>
          <p:nvPr/>
        </p:nvSpPr>
        <p:spPr>
          <a:xfrm xmlns:a="http://schemas.openxmlformats.org/drawingml/2006/main">
            <a:off x="5534025" y="1476375"/>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PII redaction, regex checks</a:t>
            </a:r>
          </a:p>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Moderation, injection screening</a:t>
            </a:r>
          </a:p>
        </p:txBody>
      </p:sp>
      <p:cxnSp>
        <p:nvCxnSpPr>
          <p:cNvPr id="16" name="">
            <a:extLst xmlns:a="http://schemas.openxmlformats.org/drawingml/2006/main">
              <a:ext uri="{FF2B5EF4-FFF2-40B4-BE49-F238E27FC236}">
                <a16:creationId xmlns:a16="http://schemas.microsoft.com/office/drawing/2014/main" id="{389C9C9D-C981-41BB-BF3B-D3CD3DB9BED7}"/>
              </a:ext>
            </a:extLst>
          </p:cNvPr>
          <p:cNvCxnSpPr/>
          <p:nvPr/>
        </p:nvCxnSpPr>
        <p:spPr>
          <a:xfrm xmlns:a="http://schemas.openxmlformats.org/drawingml/2006/main">
            <a:off x="10020300" y="1809750"/>
            <a:ext cx="0" cy="361950"/>
          </a:xfrm>
          <a:prstGeom xmlns:a="http://schemas.openxmlformats.org/drawingml/2006/main" prst="straightConnector1">
            <a:avLst/>
          </a:prstGeom>
          <a:ln xmlns:a="http://schemas.openxmlformats.org/drawingml/2006/main" w="19050">
            <a:solidFill>
              <a:srgbClr val="68849C"/>
            </a:solidFill>
          </a:ln>
        </p:spPr>
      </p:cxnSp>
      <p:cxnSp>
        <p:nvCxnSpPr>
          <p:cNvPr id="17" name="">
            <a:extLst xmlns:a="http://schemas.openxmlformats.org/drawingml/2006/main">
              <a:ext uri="{FF2B5EF4-FFF2-40B4-BE49-F238E27FC236}">
                <a16:creationId xmlns:a16="http://schemas.microsoft.com/office/drawing/2014/main" id="{C165436A-DCA8-4B53-A7AD-40BE94C0802E}"/>
              </a:ext>
            </a:extLst>
          </p:cNvPr>
          <p:cNvCxnSpPr/>
          <p:nvPr/>
        </p:nvCxnSpPr>
        <p:spPr>
          <a:xfrm xmlns:a="http://schemas.openxmlformats.org/drawingml/2006/main">
            <a:off x="1447800" y="2171700"/>
            <a:ext cx="9286875" cy="0"/>
          </a:xfrm>
          <a:prstGeom xmlns:a="http://schemas.openxmlformats.org/drawingml/2006/main" prst="straightConnector1">
            <a:avLst/>
          </a:prstGeom>
          <a:ln xmlns:a="http://schemas.openxmlformats.org/drawingml/2006/main" w="19050">
            <a:solidFill>
              <a:srgbClr val="68849C"/>
            </a:solidFill>
          </a:ln>
        </p:spPr>
      </p:cxnSp>
      <p:cxnSp>
        <p:nvCxnSpPr>
          <p:cNvPr id="18" name="">
            <a:extLst xmlns:a="http://schemas.openxmlformats.org/drawingml/2006/main">
              <a:ext uri="{FF2B5EF4-FFF2-40B4-BE49-F238E27FC236}">
                <a16:creationId xmlns:a16="http://schemas.microsoft.com/office/drawing/2014/main" id="{40B67986-1909-493B-9096-2930F8F1B32B}"/>
              </a:ext>
            </a:extLst>
          </p:cNvPr>
          <p:cNvCxnSpPr/>
          <p:nvPr/>
        </p:nvCxnSpPr>
        <p:spPr>
          <a:xfrm xmlns:a="http://schemas.openxmlformats.org/drawingml/2006/main">
            <a:off x="1447800" y="2171700"/>
            <a:ext cx="0" cy="400050"/>
          </a:xfrm>
          <a:prstGeom xmlns:a="http://schemas.openxmlformats.org/drawingml/2006/main" prst="straightConnector1">
            <a:avLst/>
          </a:prstGeom>
          <a:ln xmlns:a="http://schemas.openxmlformats.org/drawingml/2006/main" w="19050">
            <a:solidFill>
              <a:srgbClr val="68849C"/>
            </a:solidFill>
          </a:ln>
        </p:spPr>
      </p:cxnSp>
      <p:sp>
        <p:nvSpPr>
          <p:cNvPr id="19" name="">
            <a:extLst xmlns:a="http://schemas.openxmlformats.org/drawingml/2006/main">
              <a:ext uri="{FF2B5EF4-FFF2-40B4-BE49-F238E27FC236}">
                <a16:creationId xmlns:a16="http://schemas.microsoft.com/office/drawing/2014/main" id="{B7717611-5A56-47D9-AB18-CEFE3A44F21A}"/>
              </a:ext>
            </a:extLst>
          </p:cNvPr>
          <p:cNvSpPr>
            <a:spLocks xmlns:a="http://schemas.openxmlformats.org/drawingml/2006/main" noGrp="1"/>
          </p:cNvSpPr>
          <p:nvPr/>
        </p:nvSpPr>
        <p:spPr>
          <a:xfrm xmlns:a="http://schemas.openxmlformats.org/drawingml/2006/main">
            <a:off x="571500"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20" name="">
            <a:extLst xmlns:a="http://schemas.openxmlformats.org/drawingml/2006/main">
              <a:ext uri="{FF2B5EF4-FFF2-40B4-BE49-F238E27FC236}">
                <a16:creationId xmlns:a16="http://schemas.microsoft.com/office/drawing/2014/main" id="{0DA4F252-CAC2-49FF-B8FA-BBF2B8C6B844}"/>
              </a:ext>
            </a:extLst>
          </p:cNvPr>
          <p:cNvSpPr>
            <a:spLocks xmlns:a="http://schemas.openxmlformats.org/drawingml/2006/main" noGrp="1"/>
          </p:cNvSpPr>
          <p:nvPr/>
        </p:nvSpPr>
        <p:spPr>
          <a:xfrm xmlns:a="http://schemas.openxmlformats.org/drawingml/2006/main">
            <a:off x="685800"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Finance</a:t>
            </a:r>
          </a:p>
        </p:txBody>
      </p:sp>
      <p:sp>
        <p:nvSpPr>
          <p:cNvPr id="21" name="">
            <a:extLst xmlns:a="http://schemas.openxmlformats.org/drawingml/2006/main">
              <a:ext uri="{FF2B5EF4-FFF2-40B4-BE49-F238E27FC236}">
                <a16:creationId xmlns:a16="http://schemas.microsoft.com/office/drawing/2014/main" id="{7B4E116A-886F-42DC-8968-3C2DDABD45D8}"/>
              </a:ext>
            </a:extLst>
          </p:cNvPr>
          <p:cNvSpPr>
            <a:spLocks xmlns:a="http://schemas.openxmlformats.org/drawingml/2006/main" noGrp="1"/>
          </p:cNvSpPr>
          <p:nvPr/>
        </p:nvSpPr>
        <p:spPr>
          <a:xfrm xmlns:a="http://schemas.openxmlformats.org/drawingml/2006/main">
            <a:off x="571500"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22" name="">
            <a:extLst xmlns:a="http://schemas.openxmlformats.org/drawingml/2006/main">
              <a:ext uri="{FF2B5EF4-FFF2-40B4-BE49-F238E27FC236}">
                <a16:creationId xmlns:a16="http://schemas.microsoft.com/office/drawing/2014/main" id="{65306313-6A82-4AC6-9944-603423177F5E}"/>
              </a:ext>
            </a:extLst>
          </p:cNvPr>
          <p:cNvSpPr>
            <a:spLocks xmlns:a="http://schemas.openxmlformats.org/drawingml/2006/main" noGrp="1"/>
          </p:cNvSpPr>
          <p:nvPr/>
        </p:nvSpPr>
        <p:spPr>
          <a:xfrm xmlns:a="http://schemas.openxmlformats.org/drawingml/2006/main">
            <a:off x="685800"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Qdrant RAG</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PDF + cache</a:t>
            </a:r>
          </a:p>
        </p:txBody>
      </p:sp>
      <p:cxnSp>
        <p:nvCxnSpPr>
          <p:cNvPr id="24" name="">
            <a:extLst xmlns:a="http://schemas.openxmlformats.org/drawingml/2006/main">
              <a:ext uri="{FF2B5EF4-FFF2-40B4-BE49-F238E27FC236}">
                <a16:creationId xmlns:a16="http://schemas.microsoft.com/office/drawing/2014/main" id="{4E22DCFA-EA86-4842-9FFA-8A5EE2EE7344}"/>
              </a:ext>
            </a:extLst>
          </p:cNvPr>
          <p:cNvCxnSpPr/>
          <p:nvPr/>
        </p:nvCxnSpPr>
        <p:spPr>
          <a:xfrm xmlns:a="http://schemas.openxmlformats.org/drawingml/2006/main">
            <a:off x="3305175" y="2171700"/>
            <a:ext cx="0" cy="400050"/>
          </a:xfrm>
          <a:prstGeom xmlns:a="http://schemas.openxmlformats.org/drawingml/2006/main" prst="straightConnector1">
            <a:avLst/>
          </a:prstGeom>
          <a:ln xmlns:a="http://schemas.openxmlformats.org/drawingml/2006/main" w="19050">
            <a:solidFill>
              <a:srgbClr val="68849C"/>
            </a:solidFill>
          </a:ln>
        </p:spPr>
      </p:cxnSp>
      <p:sp>
        <p:nvSpPr>
          <p:cNvPr id="25" name="">
            <a:extLst xmlns:a="http://schemas.openxmlformats.org/drawingml/2006/main">
              <a:ext uri="{FF2B5EF4-FFF2-40B4-BE49-F238E27FC236}">
                <a16:creationId xmlns:a16="http://schemas.microsoft.com/office/drawing/2014/main" id="{CF3521EA-2251-4F03-A356-63A907B42D00}"/>
              </a:ext>
            </a:extLst>
          </p:cNvPr>
          <p:cNvSpPr>
            <a:spLocks xmlns:a="http://schemas.openxmlformats.org/drawingml/2006/main" noGrp="1"/>
          </p:cNvSpPr>
          <p:nvPr/>
        </p:nvSpPr>
        <p:spPr>
          <a:xfrm xmlns:a="http://schemas.openxmlformats.org/drawingml/2006/main">
            <a:off x="2428875"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26" name="">
            <a:extLst xmlns:a="http://schemas.openxmlformats.org/drawingml/2006/main">
              <a:ext uri="{FF2B5EF4-FFF2-40B4-BE49-F238E27FC236}">
                <a16:creationId xmlns:a16="http://schemas.microsoft.com/office/drawing/2014/main" id="{DFF24DE9-ADE3-45EB-83AC-86D661F9792F}"/>
              </a:ext>
            </a:extLst>
          </p:cNvPr>
          <p:cNvSpPr>
            <a:spLocks xmlns:a="http://schemas.openxmlformats.org/drawingml/2006/main" noGrp="1"/>
          </p:cNvSpPr>
          <p:nvPr/>
        </p:nvSpPr>
        <p:spPr>
          <a:xfrm xmlns:a="http://schemas.openxmlformats.org/drawingml/2006/main">
            <a:off x="2543175"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Tax</a:t>
            </a:r>
          </a:p>
        </p:txBody>
      </p:sp>
      <p:sp>
        <p:nvSpPr>
          <p:cNvPr id="27" name="">
            <a:extLst xmlns:a="http://schemas.openxmlformats.org/drawingml/2006/main">
              <a:ext uri="{FF2B5EF4-FFF2-40B4-BE49-F238E27FC236}">
                <a16:creationId xmlns:a16="http://schemas.microsoft.com/office/drawing/2014/main" id="{3852A377-14B5-45F6-947D-6DD16F40D71E}"/>
              </a:ext>
            </a:extLst>
          </p:cNvPr>
          <p:cNvSpPr>
            <a:spLocks xmlns:a="http://schemas.openxmlformats.org/drawingml/2006/main" noGrp="1"/>
          </p:cNvSpPr>
          <p:nvPr/>
        </p:nvSpPr>
        <p:spPr>
          <a:xfrm xmlns:a="http://schemas.openxmlformats.org/drawingml/2006/main">
            <a:off x="2428875"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28" name="">
            <a:extLst xmlns:a="http://schemas.openxmlformats.org/drawingml/2006/main">
              <a:ext uri="{FF2B5EF4-FFF2-40B4-BE49-F238E27FC236}">
                <a16:creationId xmlns:a16="http://schemas.microsoft.com/office/drawing/2014/main" id="{4ACEAFD5-F0B0-4AB3-ACA1-C48379128026}"/>
              </a:ext>
            </a:extLst>
          </p:cNvPr>
          <p:cNvSpPr>
            <a:spLocks xmlns:a="http://schemas.openxmlformats.org/drawingml/2006/main" noGrp="1"/>
          </p:cNvSpPr>
          <p:nvPr/>
        </p:nvSpPr>
        <p:spPr>
          <a:xfrm xmlns:a="http://schemas.openxmlformats.org/drawingml/2006/main">
            <a:off x="2543175"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Qdrant RAG</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Tax corpus</a:t>
            </a:r>
          </a:p>
        </p:txBody>
      </p:sp>
      <p:cxnSp>
        <p:nvCxnSpPr>
          <p:cNvPr id="30" name="">
            <a:extLst xmlns:a="http://schemas.openxmlformats.org/drawingml/2006/main">
              <a:ext uri="{FF2B5EF4-FFF2-40B4-BE49-F238E27FC236}">
                <a16:creationId xmlns:a16="http://schemas.microsoft.com/office/drawing/2014/main" id="{B7692EA4-FBB8-42C2-9030-374EBA254E49}"/>
              </a:ext>
            </a:extLst>
          </p:cNvPr>
          <p:cNvCxnSpPr/>
          <p:nvPr/>
        </p:nvCxnSpPr>
        <p:spPr>
          <a:xfrm xmlns:a="http://schemas.openxmlformats.org/drawingml/2006/main">
            <a:off x="5162550" y="2171700"/>
            <a:ext cx="0" cy="400050"/>
          </a:xfrm>
          <a:prstGeom xmlns:a="http://schemas.openxmlformats.org/drawingml/2006/main" prst="straightConnector1">
            <a:avLst/>
          </a:prstGeom>
          <a:ln xmlns:a="http://schemas.openxmlformats.org/drawingml/2006/main" w="19050">
            <a:solidFill>
              <a:srgbClr val="68849C"/>
            </a:solidFill>
          </a:ln>
        </p:spPr>
      </p:cxnSp>
      <p:sp>
        <p:nvSpPr>
          <p:cNvPr id="31" name="">
            <a:extLst xmlns:a="http://schemas.openxmlformats.org/drawingml/2006/main">
              <a:ext uri="{FF2B5EF4-FFF2-40B4-BE49-F238E27FC236}">
                <a16:creationId xmlns:a16="http://schemas.microsoft.com/office/drawing/2014/main" id="{9A0F709C-BEA7-4AE9-A939-1C08B733039A}"/>
              </a:ext>
            </a:extLst>
          </p:cNvPr>
          <p:cNvSpPr>
            <a:spLocks xmlns:a="http://schemas.openxmlformats.org/drawingml/2006/main" noGrp="1"/>
          </p:cNvSpPr>
          <p:nvPr/>
        </p:nvSpPr>
        <p:spPr>
          <a:xfrm xmlns:a="http://schemas.openxmlformats.org/drawingml/2006/main">
            <a:off x="4286250"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32" name="">
            <a:extLst xmlns:a="http://schemas.openxmlformats.org/drawingml/2006/main">
              <a:ext uri="{FF2B5EF4-FFF2-40B4-BE49-F238E27FC236}">
                <a16:creationId xmlns:a16="http://schemas.microsoft.com/office/drawing/2014/main" id="{CA40DFCF-4C8E-4708-A505-97F9900519E7}"/>
              </a:ext>
            </a:extLst>
          </p:cNvPr>
          <p:cNvSpPr>
            <a:spLocks xmlns:a="http://schemas.openxmlformats.org/drawingml/2006/main" noGrp="1"/>
          </p:cNvSpPr>
          <p:nvPr/>
        </p:nvSpPr>
        <p:spPr>
          <a:xfrm xmlns:a="http://schemas.openxmlformats.org/drawingml/2006/main">
            <a:off x="4400550"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Portfolio</a:t>
            </a:r>
          </a:p>
        </p:txBody>
      </p:sp>
      <p:sp>
        <p:nvSpPr>
          <p:cNvPr id="33" name="">
            <a:extLst xmlns:a="http://schemas.openxmlformats.org/drawingml/2006/main">
              <a:ext uri="{FF2B5EF4-FFF2-40B4-BE49-F238E27FC236}">
                <a16:creationId xmlns:a16="http://schemas.microsoft.com/office/drawing/2014/main" id="{A5565A4A-8BF5-41D2-B8B6-89CA6A5E6B32}"/>
              </a:ext>
            </a:extLst>
          </p:cNvPr>
          <p:cNvSpPr>
            <a:spLocks xmlns:a="http://schemas.openxmlformats.org/drawingml/2006/main" noGrp="1"/>
          </p:cNvSpPr>
          <p:nvPr/>
        </p:nvSpPr>
        <p:spPr>
          <a:xfrm xmlns:a="http://schemas.openxmlformats.org/drawingml/2006/main">
            <a:off x="4286250"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34" name="">
            <a:extLst xmlns:a="http://schemas.openxmlformats.org/drawingml/2006/main">
              <a:ext uri="{FF2B5EF4-FFF2-40B4-BE49-F238E27FC236}">
                <a16:creationId xmlns:a16="http://schemas.microsoft.com/office/drawing/2014/main" id="{085A85AF-92CC-4E14-9A73-767B6FEED05B}"/>
              </a:ext>
            </a:extLst>
          </p:cNvPr>
          <p:cNvSpPr>
            <a:spLocks xmlns:a="http://schemas.openxmlformats.org/drawingml/2006/main" noGrp="1"/>
          </p:cNvSpPr>
          <p:nvPr/>
        </p:nvSpPr>
        <p:spPr>
          <a:xfrm xmlns:a="http://schemas.openxmlformats.org/drawingml/2006/main">
            <a:off x="4400550"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SQLite</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Scoped data</a:t>
            </a:r>
          </a:p>
        </p:txBody>
      </p:sp>
      <p:cxnSp>
        <p:nvCxnSpPr>
          <p:cNvPr id="36" name="">
            <a:extLst xmlns:a="http://schemas.openxmlformats.org/drawingml/2006/main">
              <a:ext uri="{FF2B5EF4-FFF2-40B4-BE49-F238E27FC236}">
                <a16:creationId xmlns:a16="http://schemas.microsoft.com/office/drawing/2014/main" id="{7F33EC13-76B9-4FFF-984D-BA54155D68FE}"/>
              </a:ext>
            </a:extLst>
          </p:cNvPr>
          <p:cNvCxnSpPr/>
          <p:nvPr/>
        </p:nvCxnSpPr>
        <p:spPr>
          <a:xfrm xmlns:a="http://schemas.openxmlformats.org/drawingml/2006/main">
            <a:off x="7019925" y="2171700"/>
            <a:ext cx="0" cy="400050"/>
          </a:xfrm>
          <a:prstGeom xmlns:a="http://schemas.openxmlformats.org/drawingml/2006/main" prst="straightConnector1">
            <a:avLst/>
          </a:prstGeom>
          <a:ln xmlns:a="http://schemas.openxmlformats.org/drawingml/2006/main" w="19050">
            <a:solidFill>
              <a:srgbClr val="68849C"/>
            </a:solidFill>
          </a:ln>
        </p:spPr>
      </p:cxnSp>
      <p:sp>
        <p:nvSpPr>
          <p:cNvPr id="37" name="">
            <a:extLst xmlns:a="http://schemas.openxmlformats.org/drawingml/2006/main">
              <a:ext uri="{FF2B5EF4-FFF2-40B4-BE49-F238E27FC236}">
                <a16:creationId xmlns:a16="http://schemas.microsoft.com/office/drawing/2014/main" id="{EE1D3C2F-F9A2-4CC3-A999-ED514A630637}"/>
              </a:ext>
            </a:extLst>
          </p:cNvPr>
          <p:cNvSpPr>
            <a:spLocks xmlns:a="http://schemas.openxmlformats.org/drawingml/2006/main" noGrp="1"/>
          </p:cNvSpPr>
          <p:nvPr/>
        </p:nvSpPr>
        <p:spPr>
          <a:xfrm xmlns:a="http://schemas.openxmlformats.org/drawingml/2006/main">
            <a:off x="6143625"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38" name="">
            <a:extLst xmlns:a="http://schemas.openxmlformats.org/drawingml/2006/main">
              <a:ext uri="{FF2B5EF4-FFF2-40B4-BE49-F238E27FC236}">
                <a16:creationId xmlns:a16="http://schemas.microsoft.com/office/drawing/2014/main" id="{EB2B086F-94F1-4946-B1AC-8ED4194B801E}"/>
              </a:ext>
            </a:extLst>
          </p:cNvPr>
          <p:cNvSpPr>
            <a:spLocks xmlns:a="http://schemas.openxmlformats.org/drawingml/2006/main" noGrp="1"/>
          </p:cNvSpPr>
          <p:nvPr/>
        </p:nvSpPr>
        <p:spPr>
          <a:xfrm xmlns:a="http://schemas.openxmlformats.org/drawingml/2006/main">
            <a:off x="6257925"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Market</a:t>
            </a:r>
          </a:p>
        </p:txBody>
      </p:sp>
      <p:sp>
        <p:nvSpPr>
          <p:cNvPr id="39" name="">
            <a:extLst xmlns:a="http://schemas.openxmlformats.org/drawingml/2006/main">
              <a:ext uri="{FF2B5EF4-FFF2-40B4-BE49-F238E27FC236}">
                <a16:creationId xmlns:a16="http://schemas.microsoft.com/office/drawing/2014/main" id="{219608F8-2F8B-460D-8CAC-F6E5FE17C835}"/>
              </a:ext>
            </a:extLst>
          </p:cNvPr>
          <p:cNvSpPr>
            <a:spLocks xmlns:a="http://schemas.openxmlformats.org/drawingml/2006/main" noGrp="1"/>
          </p:cNvSpPr>
          <p:nvPr/>
        </p:nvSpPr>
        <p:spPr>
          <a:xfrm xmlns:a="http://schemas.openxmlformats.org/drawingml/2006/main">
            <a:off x="6143625"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40" name="">
            <a:extLst xmlns:a="http://schemas.openxmlformats.org/drawingml/2006/main">
              <a:ext uri="{FF2B5EF4-FFF2-40B4-BE49-F238E27FC236}">
                <a16:creationId xmlns:a16="http://schemas.microsoft.com/office/drawing/2014/main" id="{AC89A455-BB12-45F0-AFFE-A9AAAFAAA6C4}"/>
              </a:ext>
            </a:extLst>
          </p:cNvPr>
          <p:cNvSpPr>
            <a:spLocks xmlns:a="http://schemas.openxmlformats.org/drawingml/2006/main" noGrp="1"/>
          </p:cNvSpPr>
          <p:nvPr/>
        </p:nvSpPr>
        <p:spPr>
          <a:xfrm xmlns:a="http://schemas.openxmlformats.org/drawingml/2006/main">
            <a:off x="6257925"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Twelve Data</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MCP + cache</a:t>
            </a:r>
          </a:p>
        </p:txBody>
      </p:sp>
      <p:cxnSp>
        <p:nvCxnSpPr>
          <p:cNvPr id="42" name="">
            <a:extLst xmlns:a="http://schemas.openxmlformats.org/drawingml/2006/main">
              <a:ext uri="{FF2B5EF4-FFF2-40B4-BE49-F238E27FC236}">
                <a16:creationId xmlns:a16="http://schemas.microsoft.com/office/drawing/2014/main" id="{B9ABA7FF-89E2-4571-9EB0-E23A96E1532E}"/>
              </a:ext>
            </a:extLst>
          </p:cNvPr>
          <p:cNvCxnSpPr/>
          <p:nvPr/>
        </p:nvCxnSpPr>
        <p:spPr>
          <a:xfrm xmlns:a="http://schemas.openxmlformats.org/drawingml/2006/main">
            <a:off x="8877300" y="2171700"/>
            <a:ext cx="0" cy="400050"/>
          </a:xfrm>
          <a:prstGeom xmlns:a="http://schemas.openxmlformats.org/drawingml/2006/main" prst="straightConnector1">
            <a:avLst/>
          </a:prstGeom>
          <a:ln xmlns:a="http://schemas.openxmlformats.org/drawingml/2006/main" w="19050">
            <a:solidFill>
              <a:srgbClr val="68849C"/>
            </a:solidFill>
          </a:ln>
        </p:spPr>
      </p:cxnSp>
      <p:sp>
        <p:nvSpPr>
          <p:cNvPr id="43" name="">
            <a:extLst xmlns:a="http://schemas.openxmlformats.org/drawingml/2006/main">
              <a:ext uri="{FF2B5EF4-FFF2-40B4-BE49-F238E27FC236}">
                <a16:creationId xmlns:a16="http://schemas.microsoft.com/office/drawing/2014/main" id="{6F056D42-4038-400D-9CDD-51F3781124B5}"/>
              </a:ext>
            </a:extLst>
          </p:cNvPr>
          <p:cNvSpPr>
            <a:spLocks xmlns:a="http://schemas.openxmlformats.org/drawingml/2006/main" noGrp="1"/>
          </p:cNvSpPr>
          <p:nvPr/>
        </p:nvSpPr>
        <p:spPr>
          <a:xfrm xmlns:a="http://schemas.openxmlformats.org/drawingml/2006/main">
            <a:off x="8001000"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44" name="">
            <a:extLst xmlns:a="http://schemas.openxmlformats.org/drawingml/2006/main">
              <a:ext uri="{FF2B5EF4-FFF2-40B4-BE49-F238E27FC236}">
                <a16:creationId xmlns:a16="http://schemas.microsoft.com/office/drawing/2014/main" id="{2A05E652-CA62-4CD5-A95C-EA7FCFF8AB7A}"/>
              </a:ext>
            </a:extLst>
          </p:cNvPr>
          <p:cNvSpPr>
            <a:spLocks xmlns:a="http://schemas.openxmlformats.org/drawingml/2006/main" noGrp="1"/>
          </p:cNvSpPr>
          <p:nvPr/>
        </p:nvSpPr>
        <p:spPr>
          <a:xfrm xmlns:a="http://schemas.openxmlformats.org/drawingml/2006/main">
            <a:off x="8115300"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Goals</a:t>
            </a:r>
          </a:p>
        </p:txBody>
      </p:sp>
      <p:sp>
        <p:nvSpPr>
          <p:cNvPr id="45" name="">
            <a:extLst xmlns:a="http://schemas.openxmlformats.org/drawingml/2006/main">
              <a:ext uri="{FF2B5EF4-FFF2-40B4-BE49-F238E27FC236}">
                <a16:creationId xmlns:a16="http://schemas.microsoft.com/office/drawing/2014/main" id="{F68C2A68-6AFE-4730-A311-BA7906BFF87D}"/>
              </a:ext>
            </a:extLst>
          </p:cNvPr>
          <p:cNvSpPr>
            <a:spLocks xmlns:a="http://schemas.openxmlformats.org/drawingml/2006/main" noGrp="1"/>
          </p:cNvSpPr>
          <p:nvPr/>
        </p:nvSpPr>
        <p:spPr>
          <a:xfrm xmlns:a="http://schemas.openxmlformats.org/drawingml/2006/main">
            <a:off x="8001000"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46" name="">
            <a:extLst xmlns:a="http://schemas.openxmlformats.org/drawingml/2006/main">
              <a:ext uri="{FF2B5EF4-FFF2-40B4-BE49-F238E27FC236}">
                <a16:creationId xmlns:a16="http://schemas.microsoft.com/office/drawing/2014/main" id="{9DFB8202-E965-46EA-A273-19CA2910055E}"/>
              </a:ext>
            </a:extLst>
          </p:cNvPr>
          <p:cNvSpPr>
            <a:spLocks xmlns:a="http://schemas.openxmlformats.org/drawingml/2006/main" noGrp="1"/>
          </p:cNvSpPr>
          <p:nvPr/>
        </p:nvSpPr>
        <p:spPr>
          <a:xfrm xmlns:a="http://schemas.openxmlformats.org/drawingml/2006/main">
            <a:off x="8115300"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Local Python</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Calculators</a:t>
            </a:r>
          </a:p>
        </p:txBody>
      </p:sp>
      <p:cxnSp>
        <p:nvCxnSpPr>
          <p:cNvPr id="48" name="">
            <a:extLst xmlns:a="http://schemas.openxmlformats.org/drawingml/2006/main">
              <a:ext uri="{FF2B5EF4-FFF2-40B4-BE49-F238E27FC236}">
                <a16:creationId xmlns:a16="http://schemas.microsoft.com/office/drawing/2014/main" id="{B6C1FCCE-E947-4526-A33A-C8D4CE33C264}"/>
              </a:ext>
            </a:extLst>
          </p:cNvPr>
          <p:cNvCxnSpPr/>
          <p:nvPr/>
        </p:nvCxnSpPr>
        <p:spPr>
          <a:xfrm xmlns:a="http://schemas.openxmlformats.org/drawingml/2006/main">
            <a:off x="10734675" y="2171700"/>
            <a:ext cx="0" cy="400050"/>
          </a:xfrm>
          <a:prstGeom xmlns:a="http://schemas.openxmlformats.org/drawingml/2006/main" prst="straightConnector1">
            <a:avLst/>
          </a:prstGeom>
          <a:ln xmlns:a="http://schemas.openxmlformats.org/drawingml/2006/main" w="19050">
            <a:solidFill>
              <a:srgbClr val="68849C"/>
            </a:solidFill>
          </a:ln>
        </p:spPr>
      </p:cxnSp>
      <p:sp>
        <p:nvSpPr>
          <p:cNvPr id="49" name="">
            <a:extLst xmlns:a="http://schemas.openxmlformats.org/drawingml/2006/main">
              <a:ext uri="{FF2B5EF4-FFF2-40B4-BE49-F238E27FC236}">
                <a16:creationId xmlns:a16="http://schemas.microsoft.com/office/drawing/2014/main" id="{28B55A01-8352-4001-960C-FAB4B26A8C9E}"/>
              </a:ext>
            </a:extLst>
          </p:cNvPr>
          <p:cNvSpPr>
            <a:spLocks xmlns:a="http://schemas.openxmlformats.org/drawingml/2006/main" noGrp="1"/>
          </p:cNvSpPr>
          <p:nvPr/>
        </p:nvSpPr>
        <p:spPr>
          <a:xfrm xmlns:a="http://schemas.openxmlformats.org/drawingml/2006/main">
            <a:off x="9858375" y="2571750"/>
            <a:ext cx="1714500" cy="55245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50" name="">
            <a:extLst xmlns:a="http://schemas.openxmlformats.org/drawingml/2006/main">
              <a:ext uri="{FF2B5EF4-FFF2-40B4-BE49-F238E27FC236}">
                <a16:creationId xmlns:a16="http://schemas.microsoft.com/office/drawing/2014/main" id="{0A69234C-0BFF-4B4B-B8EB-6E07D1E9F192}"/>
              </a:ext>
            </a:extLst>
          </p:cNvPr>
          <p:cNvSpPr>
            <a:spLocks xmlns:a="http://schemas.openxmlformats.org/drawingml/2006/main" noGrp="1"/>
          </p:cNvSpPr>
          <p:nvPr/>
        </p:nvSpPr>
        <p:spPr>
          <a:xfrm xmlns:a="http://schemas.openxmlformats.org/drawingml/2006/main">
            <a:off x="9972675" y="268605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B"/>
                </a:solidFill>
                <a:latin typeface="Arial"/>
                <a:ea typeface="Arial"/>
                <a:cs typeface="Arial"/>
              </a:defRPr>
            </a:defPPr>
          </a:lstStyle>
          <a:p xmlns:a="http://schemas.openxmlformats.org/drawingml/2006/main">
            <a:pPr>
              <a:defRPr sz="1875" b="1">
                <a:solidFill>
                  <a:srgbClr val="17324B"/>
                </a:solidFill>
                <a:latin typeface="Arial"/>
                <a:ea typeface="Arial"/>
                <a:cs typeface="Arial"/>
              </a:defRPr>
            </a:pPr>
            <a:r>
              <a:rPr sz="1875" b="1">
                <a:solidFill>
                  <a:srgbClr val="17324B"/>
                </a:solidFill>
                <a:latin typeface="Arial"/>
                <a:ea typeface="Arial"/>
                <a:cs typeface="Arial"/>
              </a:rPr>
              <a:t>News</a:t>
            </a:r>
          </a:p>
        </p:txBody>
      </p:sp>
      <p:sp>
        <p:nvSpPr>
          <p:cNvPr id="51" name="">
            <a:extLst xmlns:a="http://schemas.openxmlformats.org/drawingml/2006/main">
              <a:ext uri="{FF2B5EF4-FFF2-40B4-BE49-F238E27FC236}">
                <a16:creationId xmlns:a16="http://schemas.microsoft.com/office/drawing/2014/main" id="{F38C49BD-13FE-459C-A833-B0A6B25FE5C5}"/>
              </a:ext>
            </a:extLst>
          </p:cNvPr>
          <p:cNvSpPr>
            <a:spLocks xmlns:a="http://schemas.openxmlformats.org/drawingml/2006/main" noGrp="1"/>
          </p:cNvSpPr>
          <p:nvPr/>
        </p:nvSpPr>
        <p:spPr>
          <a:xfrm xmlns:a="http://schemas.openxmlformats.org/drawingml/2006/main">
            <a:off x="9858375" y="3524250"/>
            <a:ext cx="1714500" cy="809625"/>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52" name="">
            <a:extLst xmlns:a="http://schemas.openxmlformats.org/drawingml/2006/main">
              <a:ext uri="{FF2B5EF4-FFF2-40B4-BE49-F238E27FC236}">
                <a16:creationId xmlns:a16="http://schemas.microsoft.com/office/drawing/2014/main" id="{395FFEA5-CBAA-45D1-AB0C-447CBF78781D}"/>
              </a:ext>
            </a:extLst>
          </p:cNvPr>
          <p:cNvSpPr>
            <a:spLocks xmlns:a="http://schemas.openxmlformats.org/drawingml/2006/main" noGrp="1"/>
          </p:cNvSpPr>
          <p:nvPr/>
        </p:nvSpPr>
        <p:spPr>
          <a:xfrm xmlns:a="http://schemas.openxmlformats.org/drawingml/2006/main">
            <a:off x="9972675" y="3638550"/>
            <a:ext cx="1485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324B"/>
                </a:solidFill>
                <a:latin typeface="Arial"/>
                <a:ea typeface="Arial"/>
                <a:cs typeface="Arial"/>
              </a:defRPr>
            </a:defPPr>
          </a:lstStyle>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Tavily API</a:t>
            </a:r>
          </a:p>
          <a:p xmlns:a="http://schemas.openxmlformats.org/drawingml/2006/main">
            <a:pPr>
              <a:defRPr sz="1575" b="1">
                <a:solidFill>
                  <a:srgbClr val="17324B"/>
                </a:solidFill>
                <a:latin typeface="Arial"/>
                <a:ea typeface="Arial"/>
                <a:cs typeface="Arial"/>
              </a:defRPr>
            </a:pPr>
            <a:r>
              <a:rPr sz="1575" b="1">
                <a:solidFill>
                  <a:srgbClr val="17324B"/>
                </a:solidFill>
                <a:latin typeface="Arial"/>
                <a:ea typeface="Arial"/>
                <a:cs typeface="Arial"/>
              </a:rPr>
              <a:t>Direct HTTPS</a:t>
            </a:r>
          </a:p>
        </p:txBody>
      </p:sp>
      <p:sp>
        <p:nvSpPr>
          <p:cNvPr id="54" name="">
            <a:extLst xmlns:a="http://schemas.openxmlformats.org/drawingml/2006/main">
              <a:ext uri="{FF2B5EF4-FFF2-40B4-BE49-F238E27FC236}">
                <a16:creationId xmlns:a16="http://schemas.microsoft.com/office/drawing/2014/main" id="{0C10A3DC-C7DE-4A02-9C37-46CD5BC4429D}"/>
              </a:ext>
            </a:extLst>
          </p:cNvPr>
          <p:cNvSpPr>
            <a:spLocks xmlns:a="http://schemas.openxmlformats.org/drawingml/2006/main" noGrp="1"/>
          </p:cNvSpPr>
          <p:nvPr/>
        </p:nvSpPr>
        <p:spPr>
          <a:xfrm xmlns:a="http://schemas.openxmlformats.org/drawingml/2006/main">
            <a:off x="571500" y="4810125"/>
            <a:ext cx="3476625" cy="838200"/>
          </a:xfrm>
          <a:prstGeom xmlns:a="http://schemas.openxmlformats.org/drawingml/2006/main" prst="rect">
            <a:avLst/>
          </a:prstGeom>
          <a:solidFill xmlns:a="http://schemas.openxmlformats.org/drawingml/2006/main">
            <a:srgbClr val="FFF4DE"/>
          </a:solidFill>
          <a:ln xmlns:a="http://schemas.openxmlformats.org/drawingml/2006/main" w="9525">
            <a:solidFill>
              <a:srgbClr val="9EB5C9"/>
            </a:solidFill>
          </a:ln>
        </p:spPr>
      </p:sp>
      <p:sp>
        <p:nvSpPr>
          <p:cNvPr id="55" name="">
            <a:extLst xmlns:a="http://schemas.openxmlformats.org/drawingml/2006/main">
              <a:ext uri="{FF2B5EF4-FFF2-40B4-BE49-F238E27FC236}">
                <a16:creationId xmlns:a16="http://schemas.microsoft.com/office/drawing/2014/main" id="{F815257C-14B8-45F7-B699-98F17FB88C2D}"/>
              </a:ext>
            </a:extLst>
          </p:cNvPr>
          <p:cNvSpPr>
            <a:spLocks xmlns:a="http://schemas.openxmlformats.org/drawingml/2006/main" noGrp="1"/>
          </p:cNvSpPr>
          <p:nvPr/>
        </p:nvSpPr>
        <p:spPr>
          <a:xfrm xmlns:a="http://schemas.openxmlformats.org/drawingml/2006/main">
            <a:off x="685800" y="4924425"/>
            <a:ext cx="3248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324B"/>
                </a:solidFill>
                <a:latin typeface="Arial"/>
                <a:ea typeface="Arial"/>
                <a:cs typeface="Arial"/>
              </a:defRPr>
            </a:defPPr>
          </a:lstStyle>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Human clarification</a:t>
            </a:r>
          </a:p>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SQLite checkpoints + resume</a:t>
            </a:r>
          </a:p>
        </p:txBody>
      </p:sp>
      <p:sp>
        <p:nvSpPr>
          <p:cNvPr id="56" name="">
            <a:extLst xmlns:a="http://schemas.openxmlformats.org/drawingml/2006/main">
              <a:ext uri="{FF2B5EF4-FFF2-40B4-BE49-F238E27FC236}">
                <a16:creationId xmlns:a16="http://schemas.microsoft.com/office/drawing/2014/main" id="{04AE13B1-01D7-401A-9EAE-A38D5749FF3A}"/>
              </a:ext>
            </a:extLst>
          </p:cNvPr>
          <p:cNvSpPr>
            <a:spLocks xmlns:a="http://schemas.openxmlformats.org/drawingml/2006/main" noGrp="1"/>
          </p:cNvSpPr>
          <p:nvPr/>
        </p:nvSpPr>
        <p:spPr>
          <a:xfrm xmlns:a="http://schemas.openxmlformats.org/drawingml/2006/main">
            <a:off x="4333875" y="4810125"/>
            <a:ext cx="3476625" cy="838200"/>
          </a:xfrm>
          <a:prstGeom xmlns:a="http://schemas.openxmlformats.org/drawingml/2006/main" prst="rect">
            <a:avLst/>
          </a:prstGeom>
          <a:solidFill xmlns:a="http://schemas.openxmlformats.org/drawingml/2006/main">
            <a:srgbClr val="E2F1EE"/>
          </a:solidFill>
          <a:ln xmlns:a="http://schemas.openxmlformats.org/drawingml/2006/main" w="9525">
            <a:solidFill>
              <a:srgbClr val="9EB5C9"/>
            </a:solidFill>
          </a:ln>
        </p:spPr>
      </p:sp>
      <p:sp>
        <p:nvSpPr>
          <p:cNvPr id="57" name="">
            <a:extLst xmlns:a="http://schemas.openxmlformats.org/drawingml/2006/main">
              <a:ext uri="{FF2B5EF4-FFF2-40B4-BE49-F238E27FC236}">
                <a16:creationId xmlns:a16="http://schemas.microsoft.com/office/drawing/2014/main" id="{C0C4695D-9C58-4FF3-AF43-6504EFB1EA0E}"/>
              </a:ext>
            </a:extLst>
          </p:cNvPr>
          <p:cNvSpPr>
            <a:spLocks xmlns:a="http://schemas.openxmlformats.org/drawingml/2006/main" noGrp="1"/>
          </p:cNvSpPr>
          <p:nvPr/>
        </p:nvSpPr>
        <p:spPr>
          <a:xfrm xmlns:a="http://schemas.openxmlformats.org/drawingml/2006/main">
            <a:off x="4448175" y="4924425"/>
            <a:ext cx="3248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324B"/>
                </a:solidFill>
                <a:latin typeface="Arial"/>
                <a:ea typeface="Arial"/>
                <a:cs typeface="Arial"/>
              </a:defRPr>
            </a:defPPr>
          </a:lstStyle>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Output checks</a:t>
            </a:r>
          </a:p>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Validated response to UI</a:t>
            </a:r>
          </a:p>
        </p:txBody>
      </p:sp>
      <p:sp>
        <p:nvSpPr>
          <p:cNvPr id="58" name="">
            <a:extLst xmlns:a="http://schemas.openxmlformats.org/drawingml/2006/main">
              <a:ext uri="{FF2B5EF4-FFF2-40B4-BE49-F238E27FC236}">
                <a16:creationId xmlns:a16="http://schemas.microsoft.com/office/drawing/2014/main" id="{0B4A2C07-1920-456A-880D-E446096D1615}"/>
              </a:ext>
            </a:extLst>
          </p:cNvPr>
          <p:cNvSpPr>
            <a:spLocks xmlns:a="http://schemas.openxmlformats.org/drawingml/2006/main" noGrp="1"/>
          </p:cNvSpPr>
          <p:nvPr/>
        </p:nvSpPr>
        <p:spPr>
          <a:xfrm xmlns:a="http://schemas.openxmlformats.org/drawingml/2006/main">
            <a:off x="8096250" y="4810125"/>
            <a:ext cx="3476625" cy="838200"/>
          </a:xfrm>
          <a:prstGeom xmlns:a="http://schemas.openxmlformats.org/drawingml/2006/main" prst="rect">
            <a:avLst/>
          </a:prstGeom>
          <a:solidFill xmlns:a="http://schemas.openxmlformats.org/drawingml/2006/main">
            <a:srgbClr val="EDF4F9"/>
          </a:solidFill>
          <a:ln xmlns:a="http://schemas.openxmlformats.org/drawingml/2006/main" w="9525">
            <a:solidFill>
              <a:srgbClr val="9EB5C9"/>
            </a:solidFill>
          </a:ln>
        </p:spPr>
      </p:sp>
      <p:sp>
        <p:nvSpPr>
          <p:cNvPr id="59" name="">
            <a:extLst xmlns:a="http://schemas.openxmlformats.org/drawingml/2006/main">
              <a:ext uri="{FF2B5EF4-FFF2-40B4-BE49-F238E27FC236}">
                <a16:creationId xmlns:a16="http://schemas.microsoft.com/office/drawing/2014/main" id="{1C255FD2-D41B-440D-8ED1-B1D4400BAE9B}"/>
              </a:ext>
            </a:extLst>
          </p:cNvPr>
          <p:cNvSpPr>
            <a:spLocks xmlns:a="http://schemas.openxmlformats.org/drawingml/2006/main" noGrp="1"/>
          </p:cNvSpPr>
          <p:nvPr/>
        </p:nvSpPr>
        <p:spPr>
          <a:xfrm xmlns:a="http://schemas.openxmlformats.org/drawingml/2006/main">
            <a:off x="8210550" y="4924425"/>
            <a:ext cx="3248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324B"/>
                </a:solidFill>
                <a:latin typeface="Arial"/>
                <a:ea typeface="Arial"/>
                <a:cs typeface="Arial"/>
              </a:defRPr>
            </a:defPPr>
          </a:lstStyle>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LangSmith</a:t>
            </a:r>
          </a:p>
          <a:p xmlns:a="http://schemas.openxmlformats.org/drawingml/2006/main">
            <a:pPr>
              <a:defRPr sz="1650" b="1">
                <a:solidFill>
                  <a:srgbClr val="17324B"/>
                </a:solidFill>
                <a:latin typeface="Arial"/>
                <a:ea typeface="Arial"/>
                <a:cs typeface="Arial"/>
              </a:defRPr>
            </a:pPr>
            <a:r>
              <a:rPr sz="1650" b="1">
                <a:solidFill>
                  <a:srgbClr val="17324B"/>
                </a:solidFill>
                <a:latin typeface="Arial"/>
                <a:ea typeface="Arial"/>
                <a:cs typeface="Arial"/>
              </a:rPr>
              <a:t>Request and tool tracing</a:t>
            </a:r>
          </a:p>
        </p:txBody>
      </p:sp>
      <p:sp>
        <p:nvSpPr>
          <p:cNvPr id="60" name="">
            <a:extLst xmlns:a="http://schemas.openxmlformats.org/drawingml/2006/main">
              <a:ext uri="{FF2B5EF4-FFF2-40B4-BE49-F238E27FC236}">
                <a16:creationId xmlns:a16="http://schemas.microsoft.com/office/drawing/2014/main" id="{C1B9B28A-5BAD-4AE3-94B7-82D681165A6E}"/>
              </a:ext>
            </a:extLst>
          </p:cNvPr>
          <p:cNvSpPr>
            <a:spLocks xmlns:a="http://schemas.openxmlformats.org/drawingml/2006/main" noGrp="1"/>
          </p:cNvSpPr>
          <p:nvPr/>
        </p:nvSpPr>
        <p:spPr>
          <a:xfrm xmlns:a="http://schemas.openxmlformats.org/drawingml/2006/main">
            <a:off x="571500" y="5953125"/>
            <a:ext cx="1100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0635E"/>
                </a:solidFill>
                <a:latin typeface="Arial"/>
                <a:ea typeface="Arial"/>
                <a:cs typeface="Arial"/>
              </a:defRPr>
            </a:defPPr>
          </a:lstStyle>
          <a:p xmlns:a="http://schemas.openxmlformats.org/drawingml/2006/main">
            <a:pPr>
              <a:defRPr sz="1800" b="1">
                <a:solidFill>
                  <a:srgbClr val="10635E"/>
                </a:solidFill>
                <a:latin typeface="Arial"/>
                <a:ea typeface="Arial"/>
                <a:cs typeface="Arial"/>
              </a:defRPr>
            </a:pPr>
            <a:r>
              <a:rPr sz="1800" b="1">
                <a:solidFill>
                  <a:srgbClr val="10635E"/>
                </a:solidFill>
                <a:latin typeface="Arial"/>
                <a:ea typeface="Arial"/>
                <a:cs typeface="Arial"/>
              </a:rPr>
              <a:t>OpenAI: routing, agent reasoning and dense embeddings</a:t>
            </a:r>
          </a:p>
        </p:txBody>
      </p:sp>
    </p:spTree>
    <p:extLst>
      <p:ext uri="{BB962C8B-B14F-4D97-AF65-F5344CB8AC3E}">
        <p14:creationId xmlns:p14="http://schemas.microsoft.com/office/powerpoint/2010/main" val="17430718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A714B7-B63F-4BBC-B874-60069C8FB8DD}"/>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Finance Education</a:t>
            </a:r>
          </a:p>
        </p:txBody>
      </p:sp>
      <p:sp>
        <p:nvSpPr>
          <p:cNvPr id="2" name="">
            <a:extLst xmlns:a="http://schemas.openxmlformats.org/drawingml/2006/main">
              <a:ext uri="{FF2B5EF4-FFF2-40B4-BE49-F238E27FC236}">
                <a16:creationId xmlns:a16="http://schemas.microsoft.com/office/drawing/2014/main" id="{A96F0B27-25F2-427A-89E3-F557CEFF8AFB}"/>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3 / 10</a:t>
            </a:r>
          </a:p>
        </p:txBody>
      </p:sp>
      <p:sp>
        <p:nvSpPr>
          <p:cNvPr id="3" name="">
            <a:extLst xmlns:a="http://schemas.openxmlformats.org/drawingml/2006/main">
              <a:ext uri="{FF2B5EF4-FFF2-40B4-BE49-F238E27FC236}">
                <a16:creationId xmlns:a16="http://schemas.microsoft.com/office/drawing/2014/main" id="{6CF1C47B-B22B-4605-BA06-904FD16E79D9}"/>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RAG from a curated finance handbook</a:t>
            </a:r>
          </a:p>
        </p:txBody>
      </p:sp>
      <p:sp>
        <p:nvSpPr>
          <p:cNvPr id="4" name="">
            <a:extLst xmlns:a="http://schemas.openxmlformats.org/drawingml/2006/main">
              <a:ext uri="{FF2B5EF4-FFF2-40B4-BE49-F238E27FC236}">
                <a16:creationId xmlns:a16="http://schemas.microsoft.com/office/drawing/2014/main" id="{575917C3-1D27-4B19-85FF-DE3AAD0A3E6E}"/>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OFFLINE INGESTION</a:t>
            </a:r>
          </a:p>
        </p:txBody>
      </p:sp>
      <p:sp>
        <p:nvSpPr>
          <p:cNvPr id="5" name="">
            <a:extLst xmlns:a="http://schemas.openxmlformats.org/drawingml/2006/main">
              <a:ext uri="{FF2B5EF4-FFF2-40B4-BE49-F238E27FC236}">
                <a16:creationId xmlns:a16="http://schemas.microsoft.com/office/drawing/2014/main" id="{7A8ABA77-5C2E-4379-95FE-9C59769FAF9D}"/>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PDF, recursive splitting, OpenAI embeddings</a:t>
            </a:r>
          </a:p>
        </p:txBody>
      </p:sp>
      <p:sp>
        <p:nvSpPr>
          <p:cNvPr id="6" name="">
            <a:extLst xmlns:a="http://schemas.openxmlformats.org/drawingml/2006/main">
              <a:ext uri="{FF2B5EF4-FFF2-40B4-BE49-F238E27FC236}">
                <a16:creationId xmlns:a16="http://schemas.microsoft.com/office/drawing/2014/main" id="{B60BE193-67C4-4B15-8DF0-C3D2301D926A}"/>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HYBRID SEARCH</a:t>
            </a:r>
          </a:p>
        </p:txBody>
      </p:sp>
      <p:sp>
        <p:nvSpPr>
          <p:cNvPr id="7" name="">
            <a:extLst xmlns:a="http://schemas.openxmlformats.org/drawingml/2006/main">
              <a:ext uri="{FF2B5EF4-FFF2-40B4-BE49-F238E27FC236}">
                <a16:creationId xmlns:a16="http://schemas.microsoft.com/office/drawing/2014/main" id="{42A9F615-C6B5-4872-9151-A7204D2684B1}"/>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Qdrant dense + sparse BM25, RRF</a:t>
            </a:r>
          </a:p>
        </p:txBody>
      </p:sp>
      <p:sp>
        <p:nvSpPr>
          <p:cNvPr id="8" name="">
            <a:extLst xmlns:a="http://schemas.openxmlformats.org/drawingml/2006/main">
              <a:ext uri="{FF2B5EF4-FFF2-40B4-BE49-F238E27FC236}">
                <a16:creationId xmlns:a16="http://schemas.microsoft.com/office/drawing/2014/main" id="{2F7AC31D-7ADD-40EC-9731-E2BB2767A3D9}"/>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EVIDENCE RECOVERY</a:t>
            </a:r>
          </a:p>
        </p:txBody>
      </p:sp>
      <p:sp>
        <p:nvSpPr>
          <p:cNvPr id="9" name="">
            <a:extLst xmlns:a="http://schemas.openxmlformats.org/drawingml/2006/main">
              <a:ext uri="{FF2B5EF4-FFF2-40B4-BE49-F238E27FC236}">
                <a16:creationId xmlns:a16="http://schemas.microsoft.com/office/drawing/2014/main" id="{5087FDE4-2FDA-4CBA-BDE8-3FB04799E105}"/>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Evidence Expansion, Targeted Query Rewrite</a:t>
            </a:r>
          </a:p>
        </p:txBody>
      </p:sp>
      <p:sp>
        <p:nvSpPr>
          <p:cNvPr id="10" name="">
            <a:extLst xmlns:a="http://schemas.openxmlformats.org/drawingml/2006/main">
              <a:ext uri="{FF2B5EF4-FFF2-40B4-BE49-F238E27FC236}">
                <a16:creationId xmlns:a16="http://schemas.microsoft.com/office/drawing/2014/main" id="{BA865BE2-592F-469C-BCB0-1DC5200CC78B}"/>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REUSE AND BOUNDS</a:t>
            </a:r>
          </a:p>
        </p:txBody>
      </p:sp>
      <p:sp>
        <p:nvSpPr>
          <p:cNvPr id="11" name="">
            <a:extLst xmlns:a="http://schemas.openxmlformats.org/drawingml/2006/main">
              <a:ext uri="{FF2B5EF4-FFF2-40B4-BE49-F238E27FC236}">
                <a16:creationId xmlns:a16="http://schemas.microsoft.com/office/drawing/2014/main" id="{5C7287BF-EC18-4390-BD85-32F607177E30}"/>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Semantic cache, 3 retrieval actions</a:t>
            </a:r>
          </a:p>
        </p:txBody>
      </p:sp>
      <p:pic>
        <p:nvPicPr>
          <p:cNvPr id="12" name="">
            <a:extLst xmlns:a="http://schemas.openxmlformats.org/drawingml/2006/main">
              <a:ext uri="{FF2B5EF4-FFF2-40B4-BE49-F238E27FC236}">
                <a16:creationId xmlns:a16="http://schemas.microsoft.com/office/drawing/2014/main" id="{7E7573C4-2479-446B-A80B-7D1AA63588E4}"/>
              </a:ext>
            </a:extLst>
          </p:cNvPr>
          <p:cNvPicPr>
            <a:picLocks xmlns:a="http://schemas.openxmlformats.org/drawingml/2006/main" noChangeAspect="1"/>
          </p:cNvPicPr>
          <p:nvPr/>
        </p:nvPicPr>
        <p:blipFill>
          <a:blip xmlns:r="http://schemas.openxmlformats.org/officeDocument/2006/relationships" xmlns:a="http://schemas.openxmlformats.org/drawingml/2006/main" r:embed="Rf113ed187f2847db"/>
          <a:stretch xmlns:a="http://schemas.openxmlformats.org/drawingml/2006/main"/>
        </p:blipFill>
        <p:spPr>
          <a:xfrm xmlns:a="http://schemas.openxmlformats.org/drawingml/2006/main">
            <a:off x="6991859" y="1714500"/>
            <a:ext cx="4161408" cy="35718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ED78311-CF9C-4D1D-B561-2D85B19B0A7B}"/>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ETF answer with handbook citations</a:t>
            </a:r>
          </a:p>
        </p:txBody>
      </p:sp>
      <p:sp>
        <p:nvSpPr>
          <p:cNvPr id="14" name="">
            <a:extLst xmlns:a="http://schemas.openxmlformats.org/drawingml/2006/main">
              <a:ext uri="{FF2B5EF4-FFF2-40B4-BE49-F238E27FC236}">
                <a16:creationId xmlns:a16="http://schemas.microsoft.com/office/drawing/2014/main" id="{20334371-0929-4701-B3E0-71EA31C6B437}"/>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Tools: RAG query, expand evidence, targeted search</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Simple and compound interest calculators</a:t>
            </a:r>
          </a:p>
        </p:txBody>
      </p:sp>
      <p:sp>
        <p:nvSpPr>
          <p:cNvPr id="15" name="">
            <a:extLst xmlns:a="http://schemas.openxmlformats.org/drawingml/2006/main">
              <a:ext uri="{FF2B5EF4-FFF2-40B4-BE49-F238E27FC236}">
                <a16:creationId xmlns:a16="http://schemas.microsoft.com/office/drawing/2014/main" id="{36901F01-FD38-4275-B228-CD240AA8ACA3}"/>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“What is an ETF?”</a:t>
            </a:r>
          </a:p>
        </p:txBody>
      </p:sp>
    </p:spTree>
    <p:extLst>
      <p:ext uri="{BB962C8B-B14F-4D97-AF65-F5344CB8AC3E}">
        <p14:creationId xmlns:p14="http://schemas.microsoft.com/office/powerpoint/2010/main" val="13435322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4E20CF-71B7-4EF4-952C-6AAC9D0C7464}"/>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Tax Education</a:t>
            </a:r>
          </a:p>
        </p:txBody>
      </p:sp>
      <p:sp>
        <p:nvSpPr>
          <p:cNvPr id="2" name="">
            <a:extLst xmlns:a="http://schemas.openxmlformats.org/drawingml/2006/main">
              <a:ext uri="{FF2B5EF4-FFF2-40B4-BE49-F238E27FC236}">
                <a16:creationId xmlns:a16="http://schemas.microsoft.com/office/drawing/2014/main" id="{49F15895-19D4-4075-9C0C-A8E0195ADD09}"/>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4 / 10</a:t>
            </a:r>
          </a:p>
        </p:txBody>
      </p:sp>
      <p:sp>
        <p:nvSpPr>
          <p:cNvPr id="3" name="">
            <a:extLst xmlns:a="http://schemas.openxmlformats.org/drawingml/2006/main">
              <a:ext uri="{FF2B5EF4-FFF2-40B4-BE49-F238E27FC236}">
                <a16:creationId xmlns:a16="http://schemas.microsoft.com/office/drawing/2014/main" id="{B4B8D2FB-1A4B-4F6A-A9C9-A6E5FE093E16}"/>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Year-specific explanations grounded in curated tax evidence</a:t>
            </a:r>
          </a:p>
        </p:txBody>
      </p:sp>
      <p:sp>
        <p:nvSpPr>
          <p:cNvPr id="4" name="">
            <a:extLst xmlns:a="http://schemas.openxmlformats.org/drawingml/2006/main">
              <a:ext uri="{FF2B5EF4-FFF2-40B4-BE49-F238E27FC236}">
                <a16:creationId xmlns:a16="http://schemas.microsoft.com/office/drawing/2014/main" id="{813CEFD8-5C7B-4F7F-919F-93ACD35898CF}"/>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OFFLINE INGESTION</a:t>
            </a:r>
          </a:p>
        </p:txBody>
      </p:sp>
      <p:sp>
        <p:nvSpPr>
          <p:cNvPr id="5" name="">
            <a:extLst xmlns:a="http://schemas.openxmlformats.org/drawingml/2006/main">
              <a:ext uri="{FF2B5EF4-FFF2-40B4-BE49-F238E27FC236}">
                <a16:creationId xmlns:a16="http://schemas.microsoft.com/office/drawing/2014/main" id="{96E4A403-CC9D-4FFC-82C7-5F91458A6B3C}"/>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JSONL, recursive splitting, Qdrant</a:t>
            </a:r>
          </a:p>
        </p:txBody>
      </p:sp>
      <p:sp>
        <p:nvSpPr>
          <p:cNvPr id="6" name="">
            <a:extLst xmlns:a="http://schemas.openxmlformats.org/drawingml/2006/main">
              <a:ext uri="{FF2B5EF4-FFF2-40B4-BE49-F238E27FC236}">
                <a16:creationId xmlns:a16="http://schemas.microsoft.com/office/drawing/2014/main" id="{D94BBD52-3D9E-4259-ACE1-8F7267B023AE}"/>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QUERY CONSTRAINTS</a:t>
            </a:r>
          </a:p>
        </p:txBody>
      </p:sp>
      <p:sp>
        <p:nvSpPr>
          <p:cNvPr id="7" name="">
            <a:extLst xmlns:a="http://schemas.openxmlformats.org/drawingml/2006/main">
              <a:ext uri="{FF2B5EF4-FFF2-40B4-BE49-F238E27FC236}">
                <a16:creationId xmlns:a16="http://schemas.microsoft.com/office/drawing/2014/main" id="{336374C1-7E02-4EB9-A824-54EB98AFBD19}"/>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Tax year, filing year, forms and topic metadata</a:t>
            </a:r>
          </a:p>
        </p:txBody>
      </p:sp>
      <p:sp>
        <p:nvSpPr>
          <p:cNvPr id="8" name="">
            <a:extLst xmlns:a="http://schemas.openxmlformats.org/drawingml/2006/main">
              <a:ext uri="{FF2B5EF4-FFF2-40B4-BE49-F238E27FC236}">
                <a16:creationId xmlns:a16="http://schemas.microsoft.com/office/drawing/2014/main" id="{C7FA3F3D-2268-477F-9C77-ADFE8F4E942D}"/>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SHARED RAG FLOW</a:t>
            </a:r>
          </a:p>
        </p:txBody>
      </p:sp>
      <p:sp>
        <p:nvSpPr>
          <p:cNvPr id="9" name="">
            <a:extLst xmlns:a="http://schemas.openxmlformats.org/drawingml/2006/main">
              <a:ext uri="{FF2B5EF4-FFF2-40B4-BE49-F238E27FC236}">
                <a16:creationId xmlns:a16="http://schemas.microsoft.com/office/drawing/2014/main" id="{6AC8EAAE-099B-4711-98E0-3B358CF08FEC}"/>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Hybrid search, RRF, Expansion, Targeted Rewrite</a:t>
            </a:r>
          </a:p>
        </p:txBody>
      </p:sp>
      <p:sp>
        <p:nvSpPr>
          <p:cNvPr id="10" name="">
            <a:extLst xmlns:a="http://schemas.openxmlformats.org/drawingml/2006/main">
              <a:ext uri="{FF2B5EF4-FFF2-40B4-BE49-F238E27FC236}">
                <a16:creationId xmlns:a16="http://schemas.microsoft.com/office/drawing/2014/main" id="{5C0F2EEA-F49E-4293-B1AC-4C758827CAAB}"/>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ANSWER CONTROLS</a:t>
            </a:r>
          </a:p>
        </p:txBody>
      </p:sp>
      <p:sp>
        <p:nvSpPr>
          <p:cNvPr id="11" name="">
            <a:extLst xmlns:a="http://schemas.openxmlformats.org/drawingml/2006/main">
              <a:ext uri="{FF2B5EF4-FFF2-40B4-BE49-F238E27FC236}">
                <a16:creationId xmlns:a16="http://schemas.microsoft.com/office/drawing/2014/main" id="{C833E371-8816-4621-B3BB-06A75D8529D6}"/>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Separate semantic cache, sources, clarification</a:t>
            </a:r>
          </a:p>
        </p:txBody>
      </p:sp>
      <p:pic>
        <p:nvPicPr>
          <p:cNvPr id="12" name="">
            <a:extLst xmlns:a="http://schemas.openxmlformats.org/drawingml/2006/main">
              <a:ext uri="{FF2B5EF4-FFF2-40B4-BE49-F238E27FC236}">
                <a16:creationId xmlns:a16="http://schemas.microsoft.com/office/drawing/2014/main" id="{90A6AF3D-3863-4A3F-854C-8746F0CA7789}"/>
              </a:ext>
            </a:extLst>
          </p:cNvPr>
          <p:cNvPicPr>
            <a:picLocks xmlns:a="http://schemas.openxmlformats.org/drawingml/2006/main" noChangeAspect="1"/>
          </p:cNvPicPr>
          <p:nvPr/>
        </p:nvPicPr>
        <p:blipFill>
          <a:blip xmlns:r="http://schemas.openxmlformats.org/officeDocument/2006/relationships" xmlns:a="http://schemas.openxmlformats.org/drawingml/2006/main" r:embed="Rbe66130aeb204dfe"/>
          <a:stretch xmlns:a="http://schemas.openxmlformats.org/drawingml/2006/main"/>
        </p:blipFill>
        <p:spPr>
          <a:xfrm xmlns:a="http://schemas.openxmlformats.org/drawingml/2006/main">
            <a:off x="6768127" y="1714500"/>
            <a:ext cx="4608871" cy="35718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AEFF9BF-1DFD-48B7-AC97-D52BF0D925A1}"/>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Form W-2 explanation with retrieved evidence</a:t>
            </a:r>
          </a:p>
        </p:txBody>
      </p:sp>
      <p:sp>
        <p:nvSpPr>
          <p:cNvPr id="14" name="">
            <a:extLst xmlns:a="http://schemas.openxmlformats.org/drawingml/2006/main">
              <a:ext uri="{FF2B5EF4-FFF2-40B4-BE49-F238E27FC236}">
                <a16:creationId xmlns:a16="http://schemas.microsoft.com/office/drawing/2014/main" id="{021FD4E6-BBCB-435B-88C7-6E119992F4A6}"/>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Tools: tax RAG query, expansion, targeted search</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Limited federal ordinary-income-tax calculator</a:t>
            </a:r>
          </a:p>
        </p:txBody>
      </p:sp>
      <p:sp>
        <p:nvSpPr>
          <p:cNvPr id="15" name="">
            <a:extLst xmlns:a="http://schemas.openxmlformats.org/drawingml/2006/main">
              <a:ext uri="{FF2B5EF4-FFF2-40B4-BE49-F238E27FC236}">
                <a16:creationId xmlns:a16="http://schemas.microsoft.com/office/drawing/2014/main" id="{CEBEAE53-ECD0-4DFF-B914-63DB7E4AA75A}"/>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“For tax year 2026, what does Form W-2 report?”</a:t>
            </a:r>
          </a:p>
        </p:txBody>
      </p:sp>
    </p:spTree>
    <p:extLst>
      <p:ext uri="{BB962C8B-B14F-4D97-AF65-F5344CB8AC3E}">
        <p14:creationId xmlns:p14="http://schemas.microsoft.com/office/powerpoint/2010/main" val="8631214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A6EB17-B0C4-4F0C-A0C9-3EA4323ECA59}"/>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Portfolio Analysis</a:t>
            </a:r>
          </a:p>
        </p:txBody>
      </p:sp>
      <p:sp>
        <p:nvSpPr>
          <p:cNvPr id="2" name="">
            <a:extLst xmlns:a="http://schemas.openxmlformats.org/drawingml/2006/main">
              <a:ext uri="{FF2B5EF4-FFF2-40B4-BE49-F238E27FC236}">
                <a16:creationId xmlns:a16="http://schemas.microsoft.com/office/drawing/2014/main" id="{EFFC4D91-E4F6-4B1C-AD8E-10A380FF293F}"/>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5 / 10</a:t>
            </a:r>
          </a:p>
        </p:txBody>
      </p:sp>
      <p:sp>
        <p:nvSpPr>
          <p:cNvPr id="3" name="">
            <a:extLst xmlns:a="http://schemas.openxmlformats.org/drawingml/2006/main">
              <a:ext uri="{FF2B5EF4-FFF2-40B4-BE49-F238E27FC236}">
                <a16:creationId xmlns:a16="http://schemas.microsoft.com/office/drawing/2014/main" id="{4DA08174-C5E7-437C-9035-78B729F30510}"/>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Manager and customer scope enforced by deterministic tools</a:t>
            </a:r>
          </a:p>
        </p:txBody>
      </p:sp>
      <p:sp>
        <p:nvSpPr>
          <p:cNvPr id="4" name="">
            <a:extLst xmlns:a="http://schemas.openxmlformats.org/drawingml/2006/main">
              <a:ext uri="{FF2B5EF4-FFF2-40B4-BE49-F238E27FC236}">
                <a16:creationId xmlns:a16="http://schemas.microsoft.com/office/drawing/2014/main" id="{5044FE95-B422-4F2E-A958-AC60AF61BF65}"/>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DATA</a:t>
            </a:r>
          </a:p>
        </p:txBody>
      </p:sp>
      <p:sp>
        <p:nvSpPr>
          <p:cNvPr id="5" name="">
            <a:extLst xmlns:a="http://schemas.openxmlformats.org/drawingml/2006/main">
              <a:ext uri="{FF2B5EF4-FFF2-40B4-BE49-F238E27FC236}">
                <a16:creationId xmlns:a16="http://schemas.microsoft.com/office/drawing/2014/main" id="{E63E5220-25A8-4EB1-9F3B-842A18FD151B}"/>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Synthetic customers, in-memory SQLite</a:t>
            </a:r>
          </a:p>
        </p:txBody>
      </p:sp>
      <p:sp>
        <p:nvSpPr>
          <p:cNvPr id="6" name="">
            <a:extLst xmlns:a="http://schemas.openxmlformats.org/drawingml/2006/main">
              <a:ext uri="{FF2B5EF4-FFF2-40B4-BE49-F238E27FC236}">
                <a16:creationId xmlns:a16="http://schemas.microsoft.com/office/drawing/2014/main" id="{1B6747CA-5F26-4525-AD16-F7E847A8B56C}"/>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ACCESS SCOPE</a:t>
            </a:r>
          </a:p>
        </p:txBody>
      </p:sp>
      <p:sp>
        <p:nvSpPr>
          <p:cNvPr id="7" name="">
            <a:extLst xmlns:a="http://schemas.openxmlformats.org/drawingml/2006/main">
              <a:ext uri="{FF2B5EF4-FFF2-40B4-BE49-F238E27FC236}">
                <a16:creationId xmlns:a16="http://schemas.microsoft.com/office/drawing/2014/main" id="{4E37752D-6B1E-4555-8CE3-99C6358E667E}"/>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Assigned customers or own portfolio</a:t>
            </a:r>
          </a:p>
        </p:txBody>
      </p:sp>
      <p:sp>
        <p:nvSpPr>
          <p:cNvPr id="8" name="">
            <a:extLst xmlns:a="http://schemas.openxmlformats.org/drawingml/2006/main">
              <a:ext uri="{FF2B5EF4-FFF2-40B4-BE49-F238E27FC236}">
                <a16:creationId xmlns:a16="http://schemas.microsoft.com/office/drawing/2014/main" id="{64BEBD7F-C26C-424C-86BA-450EBF78A761}"/>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CUSTOMER ANALYSIS</a:t>
            </a:r>
          </a:p>
        </p:txBody>
      </p:sp>
      <p:sp>
        <p:nvSpPr>
          <p:cNvPr id="9" name="">
            <a:extLst xmlns:a="http://schemas.openxmlformats.org/drawingml/2006/main">
              <a:ext uri="{FF2B5EF4-FFF2-40B4-BE49-F238E27FC236}">
                <a16:creationId xmlns:a16="http://schemas.microsoft.com/office/drawing/2014/main" id="{851DCA25-BE7B-4BB0-8ECB-CF3D0D2A0340}"/>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Holdings, allocation, concentration, gains/losses</a:t>
            </a:r>
          </a:p>
        </p:txBody>
      </p:sp>
      <p:sp>
        <p:nvSpPr>
          <p:cNvPr id="10" name="">
            <a:extLst xmlns:a="http://schemas.openxmlformats.org/drawingml/2006/main">
              <a:ext uri="{FF2B5EF4-FFF2-40B4-BE49-F238E27FC236}">
                <a16:creationId xmlns:a16="http://schemas.microsoft.com/office/drawing/2014/main" id="{27A9842C-5D0D-4195-8ADA-2E61DB25955D}"/>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MANAGER OPERATIONS</a:t>
            </a:r>
          </a:p>
        </p:txBody>
      </p:sp>
      <p:sp>
        <p:nvSpPr>
          <p:cNvPr id="11" name="">
            <a:extLst xmlns:a="http://schemas.openxmlformats.org/drawingml/2006/main">
              <a:ext uri="{FF2B5EF4-FFF2-40B4-BE49-F238E27FC236}">
                <a16:creationId xmlns:a16="http://schemas.microsoft.com/office/drawing/2014/main" id="{3EE6E73B-A006-4273-870F-5AF169189F17}"/>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Screen portfolios and compare customers</a:t>
            </a:r>
          </a:p>
        </p:txBody>
      </p:sp>
      <p:pic>
        <p:nvPicPr>
          <p:cNvPr id="12" name="">
            <a:extLst xmlns:a="http://schemas.openxmlformats.org/drawingml/2006/main">
              <a:ext uri="{FF2B5EF4-FFF2-40B4-BE49-F238E27FC236}">
                <a16:creationId xmlns:a16="http://schemas.microsoft.com/office/drawing/2014/main" id="{1AD997D5-43DE-494B-9F0F-B0F4F8A5EB56}"/>
              </a:ext>
            </a:extLst>
          </p:cNvPr>
          <p:cNvPicPr>
            <a:picLocks xmlns:a="http://schemas.openxmlformats.org/drawingml/2006/main" noChangeAspect="1"/>
          </p:cNvPicPr>
          <p:nvPr/>
        </p:nvPicPr>
        <p:blipFill>
          <a:blip xmlns:r="http://schemas.openxmlformats.org/officeDocument/2006/relationships" xmlns:a="http://schemas.openxmlformats.org/drawingml/2006/main" r:embed="R849ffaac19ce4ea9"/>
          <a:stretch xmlns:a="http://schemas.openxmlformats.org/drawingml/2006/main"/>
        </p:blipFill>
        <p:spPr>
          <a:xfrm xmlns:a="http://schemas.openxmlformats.org/drawingml/2006/main">
            <a:off x="6627981" y="1714500"/>
            <a:ext cx="4889162" cy="35718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E3A0825-9E39-4620-92AB-4F10F95DACC6}"/>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PM001’s five assigned synthetic customers</a:t>
            </a:r>
          </a:p>
        </p:txBody>
      </p:sp>
      <p:sp>
        <p:nvSpPr>
          <p:cNvPr id="14" name="">
            <a:extLst xmlns:a="http://schemas.openxmlformats.org/drawingml/2006/main">
              <a:ext uri="{FF2B5EF4-FFF2-40B4-BE49-F238E27FC236}">
                <a16:creationId xmlns:a16="http://schemas.microsoft.com/office/drawing/2014/main" id="{995FC3DE-D697-489A-A4D6-B627E1DC5BC5}"/>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Tools: resolve customer, portfolio, investment profile</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Manager screening, comparison, clarification</a:t>
            </a:r>
          </a:p>
        </p:txBody>
      </p:sp>
      <p:sp>
        <p:nvSpPr>
          <p:cNvPr id="15" name="">
            <a:extLst xmlns:a="http://schemas.openxmlformats.org/drawingml/2006/main">
              <a:ext uri="{FF2B5EF4-FFF2-40B4-BE49-F238E27FC236}">
                <a16:creationId xmlns:a16="http://schemas.microsoft.com/office/drawing/2014/main" id="{FFD4556A-4D95-48BE-9FC0-D44226DE7172}"/>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“List all portfolio customers assigned to me.”</a:t>
            </a:r>
          </a:p>
        </p:txBody>
      </p:sp>
    </p:spTree>
    <p:extLst>
      <p:ext uri="{BB962C8B-B14F-4D97-AF65-F5344CB8AC3E}">
        <p14:creationId xmlns:p14="http://schemas.microsoft.com/office/powerpoint/2010/main" val="4738181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01424F9-3C49-4877-81D9-9225AFF9CA5E}"/>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Market Intelligence</a:t>
            </a:r>
          </a:p>
        </p:txBody>
      </p:sp>
      <p:sp>
        <p:nvSpPr>
          <p:cNvPr id="2" name="">
            <a:extLst xmlns:a="http://schemas.openxmlformats.org/drawingml/2006/main">
              <a:ext uri="{FF2B5EF4-FFF2-40B4-BE49-F238E27FC236}">
                <a16:creationId xmlns:a16="http://schemas.microsoft.com/office/drawing/2014/main" id="{9FB7E38E-0017-4A8A-A6AC-0A01E7D68FA7}"/>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6 / 10</a:t>
            </a:r>
          </a:p>
        </p:txBody>
      </p:sp>
      <p:sp>
        <p:nvSpPr>
          <p:cNvPr id="3" name="">
            <a:extLst xmlns:a="http://schemas.openxmlformats.org/drawingml/2006/main">
              <a:ext uri="{FF2B5EF4-FFF2-40B4-BE49-F238E27FC236}">
                <a16:creationId xmlns:a16="http://schemas.microsoft.com/office/drawing/2014/main" id="{A1F8D2FA-536F-4D78-87C1-998B1D718572}"/>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Twelve Data through an MCP server</a:t>
            </a:r>
          </a:p>
        </p:txBody>
      </p:sp>
      <p:sp>
        <p:nvSpPr>
          <p:cNvPr id="4" name="">
            <a:extLst xmlns:a="http://schemas.openxmlformats.org/drawingml/2006/main">
              <a:ext uri="{FF2B5EF4-FFF2-40B4-BE49-F238E27FC236}">
                <a16:creationId xmlns:a16="http://schemas.microsoft.com/office/drawing/2014/main" id="{86391E4A-CCE1-4C76-907C-E77B1918400E}"/>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PROVIDER CONNECTION</a:t>
            </a:r>
          </a:p>
        </p:txBody>
      </p:sp>
      <p:sp>
        <p:nvSpPr>
          <p:cNvPr id="5" name="">
            <a:extLst xmlns:a="http://schemas.openxmlformats.org/drawingml/2006/main">
              <a:ext uri="{FF2B5EF4-FFF2-40B4-BE49-F238E27FC236}">
                <a16:creationId xmlns:a16="http://schemas.microsoft.com/office/drawing/2014/main" id="{4B805A27-06B6-40BD-BFC0-D9935BA273D7}"/>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MCP client, local stdio server, Twelve Data API</a:t>
            </a:r>
          </a:p>
        </p:txBody>
      </p:sp>
      <p:sp>
        <p:nvSpPr>
          <p:cNvPr id="6" name="">
            <a:extLst xmlns:a="http://schemas.openxmlformats.org/drawingml/2006/main">
              <a:ext uri="{FF2B5EF4-FFF2-40B4-BE49-F238E27FC236}">
                <a16:creationId xmlns:a16="http://schemas.microsoft.com/office/drawing/2014/main" id="{CE2253B4-21C7-46CC-A954-33114ED78D23}"/>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PROVIDER TOOLS</a:t>
            </a:r>
          </a:p>
        </p:txBody>
      </p:sp>
      <p:sp>
        <p:nvSpPr>
          <p:cNvPr id="7" name="">
            <a:extLst xmlns:a="http://schemas.openxmlformats.org/drawingml/2006/main">
              <a:ext uri="{FF2B5EF4-FFF2-40B4-BE49-F238E27FC236}">
                <a16:creationId xmlns:a16="http://schemas.microsoft.com/office/drawing/2014/main" id="{92C7FC1D-12C7-4491-9D2B-AE4CE1F910F8}"/>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Symbol lookup, quote, time series</a:t>
            </a:r>
          </a:p>
        </p:txBody>
      </p:sp>
      <p:sp>
        <p:nvSpPr>
          <p:cNvPr id="8" name="">
            <a:extLst xmlns:a="http://schemas.openxmlformats.org/drawingml/2006/main">
              <a:ext uri="{FF2B5EF4-FFF2-40B4-BE49-F238E27FC236}">
                <a16:creationId xmlns:a16="http://schemas.microsoft.com/office/drawing/2014/main" id="{8F23E618-A454-44C7-8DAB-1F1E475538BD}"/>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LOCAL ANALYSIS</a:t>
            </a:r>
          </a:p>
        </p:txBody>
      </p:sp>
      <p:sp>
        <p:nvSpPr>
          <p:cNvPr id="9" name="">
            <a:extLst xmlns:a="http://schemas.openxmlformats.org/drawingml/2006/main">
              <a:ext uri="{FF2B5EF4-FFF2-40B4-BE49-F238E27FC236}">
                <a16:creationId xmlns:a16="http://schemas.microsoft.com/office/drawing/2014/main" id="{4F8DD5FD-5D23-4FC9-88EC-7D8A0AE4CAB6}"/>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Price growth, minimum/maximum, two-stock views</a:t>
            </a:r>
          </a:p>
        </p:txBody>
      </p:sp>
      <p:sp>
        <p:nvSpPr>
          <p:cNvPr id="10" name="">
            <a:extLst xmlns:a="http://schemas.openxmlformats.org/drawingml/2006/main">
              <a:ext uri="{FF2B5EF4-FFF2-40B4-BE49-F238E27FC236}">
                <a16:creationId xmlns:a16="http://schemas.microsoft.com/office/drawing/2014/main" id="{AD3AF12A-B9E7-4A6D-B2D4-8D4EBB6FC855}"/>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RELIABILITY</a:t>
            </a:r>
          </a:p>
        </p:txBody>
      </p:sp>
      <p:sp>
        <p:nvSpPr>
          <p:cNvPr id="11" name="">
            <a:extLst xmlns:a="http://schemas.openxmlformats.org/drawingml/2006/main">
              <a:ext uri="{FF2B5EF4-FFF2-40B4-BE49-F238E27FC236}">
                <a16:creationId xmlns:a16="http://schemas.microsoft.com/office/drawing/2014/main" id="{B6A93917-19F3-48DD-89D8-46B667E31A3B}"/>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TTL/LRU cache, shared requests, transient retries</a:t>
            </a:r>
          </a:p>
        </p:txBody>
      </p:sp>
      <p:pic>
        <p:nvPicPr>
          <p:cNvPr id="12" name="">
            <a:extLst xmlns:a="http://schemas.openxmlformats.org/drawingml/2006/main">
              <a:ext uri="{FF2B5EF4-FFF2-40B4-BE49-F238E27FC236}">
                <a16:creationId xmlns:a16="http://schemas.microsoft.com/office/drawing/2014/main" id="{1F148E15-E4F2-4653-9DCD-04C2D001AF8F}"/>
              </a:ext>
            </a:extLst>
          </p:cNvPr>
          <p:cNvPicPr>
            <a:picLocks xmlns:a="http://schemas.openxmlformats.org/drawingml/2006/main" noChangeAspect="1"/>
          </p:cNvPicPr>
          <p:nvPr/>
        </p:nvPicPr>
        <p:blipFill>
          <a:blip xmlns:r="http://schemas.openxmlformats.org/officeDocument/2006/relationships" xmlns:a="http://schemas.openxmlformats.org/drawingml/2006/main" r:embed="R65e31152d4344c83"/>
          <a:stretch xmlns:a="http://schemas.openxmlformats.org/drawingml/2006/main"/>
        </p:blipFill>
        <p:spPr>
          <a:xfrm xmlns:a="http://schemas.openxmlformats.org/drawingml/2006/main">
            <a:off x="6524625" y="1950661"/>
            <a:ext cx="5095875" cy="309955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C6B9B3E-C809-4FCC-89C5-A0412C4B5FFF}"/>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Available quote and daily candlestick observations</a:t>
            </a:r>
          </a:p>
        </p:txBody>
      </p:sp>
      <p:sp>
        <p:nvSpPr>
          <p:cNvPr id="14" name="">
            <a:extLst xmlns:a="http://schemas.openxmlformats.org/drawingml/2006/main">
              <a:ext uri="{FF2B5EF4-FFF2-40B4-BE49-F238E27FC236}">
                <a16:creationId xmlns:a16="http://schemas.microsoft.com/office/drawing/2014/main" id="{9465B374-9C7B-4A75-BA45-00054A679649}"/>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MCP: search_symbol, get_quote, get_time_series</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Local: calculate_price_growth, calculate_price_extrema</a:t>
            </a:r>
          </a:p>
        </p:txBody>
      </p:sp>
      <p:sp>
        <p:nvSpPr>
          <p:cNvPr id="15" name="">
            <a:extLst xmlns:a="http://schemas.openxmlformats.org/drawingml/2006/main">
              <a:ext uri="{FF2B5EF4-FFF2-40B4-BE49-F238E27FC236}">
                <a16:creationId xmlns:a16="http://schemas.microsoft.com/office/drawing/2014/main" id="{E2500D40-D24C-4816-ACB6-B7D3E7677118}"/>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“What was NVDA’s lowest observed price in the last two months?”</a:t>
            </a:r>
          </a:p>
        </p:txBody>
      </p:sp>
    </p:spTree>
    <p:extLst>
      <p:ext uri="{BB962C8B-B14F-4D97-AF65-F5344CB8AC3E}">
        <p14:creationId xmlns:p14="http://schemas.microsoft.com/office/powerpoint/2010/main" val="746679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87522CD-F1CE-43B0-8D17-25A23387AD70}"/>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Goal Planning</a:t>
            </a:r>
          </a:p>
        </p:txBody>
      </p:sp>
      <p:sp>
        <p:nvSpPr>
          <p:cNvPr id="2" name="">
            <a:extLst xmlns:a="http://schemas.openxmlformats.org/drawingml/2006/main">
              <a:ext uri="{FF2B5EF4-FFF2-40B4-BE49-F238E27FC236}">
                <a16:creationId xmlns:a16="http://schemas.microsoft.com/office/drawing/2014/main" id="{03621665-01F4-44AE-8979-FC5C83C7825D}"/>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7 / 10</a:t>
            </a:r>
          </a:p>
        </p:txBody>
      </p:sp>
      <p:sp>
        <p:nvSpPr>
          <p:cNvPr id="3" name="">
            <a:extLst xmlns:a="http://schemas.openxmlformats.org/drawingml/2006/main">
              <a:ext uri="{FF2B5EF4-FFF2-40B4-BE49-F238E27FC236}">
                <a16:creationId xmlns:a16="http://schemas.microsoft.com/office/drawing/2014/main" id="{BA18F40E-FA9A-4DF8-B79D-6BEAFCEDCA1E}"/>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Deterministic savings calculations with explicit assumptions</a:t>
            </a:r>
          </a:p>
        </p:txBody>
      </p:sp>
      <p:sp>
        <p:nvSpPr>
          <p:cNvPr id="4" name="">
            <a:extLst xmlns:a="http://schemas.openxmlformats.org/drawingml/2006/main">
              <a:ext uri="{FF2B5EF4-FFF2-40B4-BE49-F238E27FC236}">
                <a16:creationId xmlns:a16="http://schemas.microsoft.com/office/drawing/2014/main" id="{3A846CB4-388C-4FE5-8F69-65CE4D01AABD}"/>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FOUR CALCULATORS</a:t>
            </a:r>
          </a:p>
        </p:txBody>
      </p:sp>
      <p:sp>
        <p:nvSpPr>
          <p:cNvPr id="5" name="">
            <a:extLst xmlns:a="http://schemas.openxmlformats.org/drawingml/2006/main">
              <a:ext uri="{FF2B5EF4-FFF2-40B4-BE49-F238E27FC236}">
                <a16:creationId xmlns:a16="http://schemas.microsoft.com/office/drawing/2014/main" id="{B3A54CAE-1551-4CB5-AA6F-DEB0D6A90B45}"/>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Contribution, future value, timeline, feasibility</a:t>
            </a:r>
          </a:p>
        </p:txBody>
      </p:sp>
      <p:sp>
        <p:nvSpPr>
          <p:cNvPr id="6" name="">
            <a:extLst xmlns:a="http://schemas.openxmlformats.org/drawingml/2006/main">
              <a:ext uri="{FF2B5EF4-FFF2-40B4-BE49-F238E27FC236}">
                <a16:creationId xmlns:a16="http://schemas.microsoft.com/office/drawing/2014/main" id="{D0749B8E-63B1-46CD-B16D-BA426B9738FC}"/>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INPUTS</a:t>
            </a:r>
          </a:p>
        </p:txBody>
      </p:sp>
      <p:sp>
        <p:nvSpPr>
          <p:cNvPr id="7" name="">
            <a:extLst xmlns:a="http://schemas.openxmlformats.org/drawingml/2006/main">
              <a:ext uri="{FF2B5EF4-FFF2-40B4-BE49-F238E27FC236}">
                <a16:creationId xmlns:a16="http://schemas.microsoft.com/office/drawing/2014/main" id="{A2E9FFB1-1929-4841-9165-7F26BAA386DA}"/>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Target, horizon, starting savings, assumed return</a:t>
            </a:r>
          </a:p>
        </p:txBody>
      </p:sp>
      <p:sp>
        <p:nvSpPr>
          <p:cNvPr id="8" name="">
            <a:extLst xmlns:a="http://schemas.openxmlformats.org/drawingml/2006/main">
              <a:ext uri="{FF2B5EF4-FFF2-40B4-BE49-F238E27FC236}">
                <a16:creationId xmlns:a16="http://schemas.microsoft.com/office/drawing/2014/main" id="{590F0084-C7F6-4123-842D-4CD63D3C3AB8}"/>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HUMAN CLARIFICATION</a:t>
            </a:r>
          </a:p>
        </p:txBody>
      </p:sp>
      <p:sp>
        <p:nvSpPr>
          <p:cNvPr id="9" name="">
            <a:extLst xmlns:a="http://schemas.openxmlformats.org/drawingml/2006/main">
              <a:ext uri="{FF2B5EF4-FFF2-40B4-BE49-F238E27FC236}">
                <a16:creationId xmlns:a16="http://schemas.microsoft.com/office/drawing/2014/main" id="{BF89FE85-ADD4-4F2E-8D06-8E490D19D030}"/>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Ask for essential missing details and resume</a:t>
            </a:r>
          </a:p>
        </p:txBody>
      </p:sp>
      <p:sp>
        <p:nvSpPr>
          <p:cNvPr id="10" name="">
            <a:extLst xmlns:a="http://schemas.openxmlformats.org/drawingml/2006/main">
              <a:ext uri="{FF2B5EF4-FFF2-40B4-BE49-F238E27FC236}">
                <a16:creationId xmlns:a16="http://schemas.microsoft.com/office/drawing/2014/main" id="{AB30B608-E879-4AF7-9E83-A152519A516B}"/>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OUTPUT</a:t>
            </a:r>
          </a:p>
        </p:txBody>
      </p:sp>
      <p:sp>
        <p:nvSpPr>
          <p:cNvPr id="11" name="">
            <a:extLst xmlns:a="http://schemas.openxmlformats.org/drawingml/2006/main">
              <a:ext uri="{FF2B5EF4-FFF2-40B4-BE49-F238E27FC236}">
                <a16:creationId xmlns:a16="http://schemas.microsoft.com/office/drawing/2014/main" id="{63709D28-8A03-4F5F-B0D5-FD0349E0EB06}"/>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Projection, required contribution and shortfall</a:t>
            </a:r>
          </a:p>
        </p:txBody>
      </p:sp>
      <p:pic>
        <p:nvPicPr>
          <p:cNvPr id="12" name="">
            <a:extLst xmlns:a="http://schemas.openxmlformats.org/drawingml/2006/main">
              <a:ext uri="{FF2B5EF4-FFF2-40B4-BE49-F238E27FC236}">
                <a16:creationId xmlns:a16="http://schemas.microsoft.com/office/drawing/2014/main" id="{6A503908-E703-481E-8914-F502383DCCCF}"/>
              </a:ext>
            </a:extLst>
          </p:cNvPr>
          <p:cNvPicPr>
            <a:picLocks xmlns:a="http://schemas.openxmlformats.org/drawingml/2006/main" noChangeAspect="1"/>
          </p:cNvPicPr>
          <p:nvPr/>
        </p:nvPicPr>
        <p:blipFill>
          <a:blip xmlns:r="http://schemas.openxmlformats.org/officeDocument/2006/relationships" xmlns:a="http://schemas.openxmlformats.org/drawingml/2006/main" r:embed="Raf628b6bf8e24314"/>
          <a:stretch xmlns:a="http://schemas.openxmlformats.org/drawingml/2006/main"/>
        </p:blipFill>
        <p:spPr>
          <a:xfrm xmlns:a="http://schemas.openxmlformats.org/drawingml/2006/main">
            <a:off x="6524625" y="1955833"/>
            <a:ext cx="5095875" cy="3089209"/>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3CFC50A-6D29-4D00-956F-4DC63E552367}"/>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Local scenario calculator with a projected shortfall</a:t>
            </a:r>
          </a:p>
        </p:txBody>
      </p:sp>
      <p:sp>
        <p:nvSpPr>
          <p:cNvPr id="14" name="">
            <a:extLst xmlns:a="http://schemas.openxmlformats.org/drawingml/2006/main">
              <a:ext uri="{FF2B5EF4-FFF2-40B4-BE49-F238E27FC236}">
                <a16:creationId xmlns:a16="http://schemas.microsoft.com/office/drawing/2014/main" id="{0C8E2A07-92BF-4174-947C-7154BB61EEDF}"/>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Tools: required contribution, future value</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Time to goal, feasibility, clarification</a:t>
            </a:r>
          </a:p>
        </p:txBody>
      </p:sp>
      <p:sp>
        <p:nvSpPr>
          <p:cNvPr id="15" name="">
            <a:extLst xmlns:a="http://schemas.openxmlformats.org/drawingml/2006/main">
              <a:ext uri="{FF2B5EF4-FFF2-40B4-BE49-F238E27FC236}">
                <a16:creationId xmlns:a16="http://schemas.microsoft.com/office/drawing/2014/main" id="{5625C7CF-6D09-40B5-BB9E-37E6CC5A0E7D}"/>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“How much monthly to reach USD 20,000 in five years at 0%?”</a:t>
            </a:r>
          </a:p>
        </p:txBody>
      </p:sp>
    </p:spTree>
    <p:extLst>
      <p:ext uri="{BB962C8B-B14F-4D97-AF65-F5344CB8AC3E}">
        <p14:creationId xmlns:p14="http://schemas.microsoft.com/office/powerpoint/2010/main" val="21258546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D4509A4-9CA6-4ADB-B9D8-9328742A252B}"/>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News Synthesis</a:t>
            </a:r>
          </a:p>
        </p:txBody>
      </p:sp>
      <p:sp>
        <p:nvSpPr>
          <p:cNvPr id="2" name="">
            <a:extLst xmlns:a="http://schemas.openxmlformats.org/drawingml/2006/main">
              <a:ext uri="{FF2B5EF4-FFF2-40B4-BE49-F238E27FC236}">
                <a16:creationId xmlns:a16="http://schemas.microsoft.com/office/drawing/2014/main" id="{656B9DF8-9643-4C56-8D7E-A3B8632B523B}"/>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8 / 10</a:t>
            </a:r>
          </a:p>
        </p:txBody>
      </p:sp>
      <p:sp>
        <p:nvSpPr>
          <p:cNvPr id="3" name="">
            <a:extLst xmlns:a="http://schemas.openxmlformats.org/drawingml/2006/main">
              <a:ext uri="{FF2B5EF4-FFF2-40B4-BE49-F238E27FC236}">
                <a16:creationId xmlns:a16="http://schemas.microsoft.com/office/drawing/2014/main" id="{9CBBCD1C-3E62-493E-9A91-CE54CF3D2B8E}"/>
              </a:ext>
            </a:extLst>
          </p:cNvPr>
          <p:cNvSpPr>
            <a:spLocks xmlns:a="http://schemas.openxmlformats.org/drawingml/2006/main" noGrp="1"/>
          </p:cNvSpPr>
          <p:nvPr/>
        </p:nvSpPr>
        <p:spPr>
          <a:xfrm xmlns:a="http://schemas.openxmlformats.org/drawingml/2006/main">
            <a:off x="571500" y="10668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Tavily supplies articles, FinPilot assesses and summarizes</a:t>
            </a:r>
          </a:p>
        </p:txBody>
      </p:sp>
      <p:sp>
        <p:nvSpPr>
          <p:cNvPr id="4" name="">
            <a:extLst xmlns:a="http://schemas.openxmlformats.org/drawingml/2006/main">
              <a:ext uri="{FF2B5EF4-FFF2-40B4-BE49-F238E27FC236}">
                <a16:creationId xmlns:a16="http://schemas.microsoft.com/office/drawing/2014/main" id="{65D1C953-D837-4707-9EC6-334D697997A8}"/>
              </a:ext>
            </a:extLst>
          </p:cNvPr>
          <p:cNvSpPr>
            <a:spLocks xmlns:a="http://schemas.openxmlformats.org/drawingml/2006/main" noGrp="1"/>
          </p:cNvSpPr>
          <p:nvPr/>
        </p:nvSpPr>
        <p:spPr>
          <a:xfrm xmlns:a="http://schemas.openxmlformats.org/drawingml/2006/main">
            <a:off x="571500" y="17430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SEARCH SCOPE</a:t>
            </a:r>
          </a:p>
        </p:txBody>
      </p:sp>
      <p:sp>
        <p:nvSpPr>
          <p:cNvPr id="5" name="">
            <a:extLst xmlns:a="http://schemas.openxmlformats.org/drawingml/2006/main">
              <a:ext uri="{FF2B5EF4-FFF2-40B4-BE49-F238E27FC236}">
                <a16:creationId xmlns:a16="http://schemas.microsoft.com/office/drawing/2014/main" id="{2E1B0489-2F62-4B07-9D14-3AF81BE60226}"/>
              </a:ext>
            </a:extLst>
          </p:cNvPr>
          <p:cNvSpPr>
            <a:spLocks xmlns:a="http://schemas.openxmlformats.org/drawingml/2006/main" noGrp="1"/>
          </p:cNvSpPr>
          <p:nvPr/>
        </p:nvSpPr>
        <p:spPr>
          <a:xfrm xmlns:a="http://schemas.openxmlformats.org/drawingml/2006/main">
            <a:off x="571500" y="20383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Financial category, custom topic, date window</a:t>
            </a:r>
          </a:p>
        </p:txBody>
      </p:sp>
      <p:sp>
        <p:nvSpPr>
          <p:cNvPr id="6" name="">
            <a:extLst xmlns:a="http://schemas.openxmlformats.org/drawingml/2006/main">
              <a:ext uri="{FF2B5EF4-FFF2-40B4-BE49-F238E27FC236}">
                <a16:creationId xmlns:a16="http://schemas.microsoft.com/office/drawing/2014/main" id="{3D9A9D56-0F53-4D0C-A0E3-FAE1971BD723}"/>
              </a:ext>
            </a:extLst>
          </p:cNvPr>
          <p:cNvSpPr>
            <a:spLocks xmlns:a="http://schemas.openxmlformats.org/drawingml/2006/main" noGrp="1"/>
          </p:cNvSpPr>
          <p:nvPr/>
        </p:nvSpPr>
        <p:spPr>
          <a:xfrm xmlns:a="http://schemas.openxmlformats.org/drawingml/2006/main">
            <a:off x="571500" y="25431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ACQUISITION</a:t>
            </a:r>
          </a:p>
        </p:txBody>
      </p:sp>
      <p:sp>
        <p:nvSpPr>
          <p:cNvPr id="7" name="">
            <a:extLst xmlns:a="http://schemas.openxmlformats.org/drawingml/2006/main">
              <a:ext uri="{FF2B5EF4-FFF2-40B4-BE49-F238E27FC236}">
                <a16:creationId xmlns:a16="http://schemas.microsoft.com/office/drawing/2014/main" id="{BA59213D-D1D0-41F4-BBCF-7FE6A6F767D2}"/>
              </a:ext>
            </a:extLst>
          </p:cNvPr>
          <p:cNvSpPr>
            <a:spLocks xmlns:a="http://schemas.openxmlformats.org/drawingml/2006/main" noGrp="1"/>
          </p:cNvSpPr>
          <p:nvPr/>
        </p:nvSpPr>
        <p:spPr>
          <a:xfrm xmlns:a="http://schemas.openxmlformats.org/drawingml/2006/main">
            <a:off x="571500" y="28384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Tavily HTTPS, include_answer=False</a:t>
            </a:r>
          </a:p>
        </p:txBody>
      </p:sp>
      <p:sp>
        <p:nvSpPr>
          <p:cNvPr id="8" name="">
            <a:extLst xmlns:a="http://schemas.openxmlformats.org/drawingml/2006/main">
              <a:ext uri="{FF2B5EF4-FFF2-40B4-BE49-F238E27FC236}">
                <a16:creationId xmlns:a16="http://schemas.microsoft.com/office/drawing/2014/main" id="{84E659AD-7C1C-4F96-B152-EA1986EB1FB4}"/>
              </a:ext>
            </a:extLst>
          </p:cNvPr>
          <p:cNvSpPr>
            <a:spLocks xmlns:a="http://schemas.openxmlformats.org/drawingml/2006/main" noGrp="1"/>
          </p:cNvSpPr>
          <p:nvPr/>
        </p:nvSpPr>
        <p:spPr>
          <a:xfrm xmlns:a="http://schemas.openxmlformats.org/drawingml/2006/main">
            <a:off x="571500" y="33432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EVIDENCE COVERAGE</a:t>
            </a:r>
          </a:p>
        </p:txBody>
      </p:sp>
      <p:sp>
        <p:nvSpPr>
          <p:cNvPr id="9" name="">
            <a:extLst xmlns:a="http://schemas.openxmlformats.org/drawingml/2006/main">
              <a:ext uri="{FF2B5EF4-FFF2-40B4-BE49-F238E27FC236}">
                <a16:creationId xmlns:a16="http://schemas.microsoft.com/office/drawing/2014/main" id="{9E17AA68-0177-495D-A06D-CB58F6495F59}"/>
              </a:ext>
            </a:extLst>
          </p:cNvPr>
          <p:cNvSpPr>
            <a:spLocks xmlns:a="http://schemas.openxmlformats.org/drawingml/2006/main" noGrp="1"/>
          </p:cNvSpPr>
          <p:nvPr/>
        </p:nvSpPr>
        <p:spPr>
          <a:xfrm xmlns:a="http://schemas.openxmlformats.org/drawingml/2006/main">
            <a:off x="571500" y="36385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Assess missing aspects and focus another search</a:t>
            </a:r>
          </a:p>
        </p:txBody>
      </p:sp>
      <p:sp>
        <p:nvSpPr>
          <p:cNvPr id="10" name="">
            <a:extLst xmlns:a="http://schemas.openxmlformats.org/drawingml/2006/main">
              <a:ext uri="{FF2B5EF4-FFF2-40B4-BE49-F238E27FC236}">
                <a16:creationId xmlns:a16="http://schemas.microsoft.com/office/drawing/2014/main" id="{320D3ACA-B3D4-441D-8EEC-29549074981C}"/>
              </a:ext>
            </a:extLst>
          </p:cNvPr>
          <p:cNvSpPr>
            <a:spLocks xmlns:a="http://schemas.openxmlformats.org/drawingml/2006/main" noGrp="1"/>
          </p:cNvSpPr>
          <p:nvPr/>
        </p:nvSpPr>
        <p:spPr>
          <a:xfrm xmlns:a="http://schemas.openxmlformats.org/drawingml/2006/main">
            <a:off x="571500" y="4143375"/>
            <a:ext cx="5572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0635E"/>
                </a:solidFill>
                <a:latin typeface="Arial"/>
                <a:ea typeface="Arial"/>
                <a:cs typeface="Arial"/>
              </a:defRPr>
            </a:defPPr>
          </a:lstStyle>
          <a:p xmlns:a="http://schemas.openxmlformats.org/drawingml/2006/main">
            <a:pPr>
              <a:defRPr sz="1575" b="1">
                <a:solidFill>
                  <a:srgbClr val="10635E"/>
                </a:solidFill>
                <a:latin typeface="Arial"/>
                <a:ea typeface="Arial"/>
                <a:cs typeface="Arial"/>
              </a:defRPr>
            </a:pPr>
            <a:r>
              <a:rPr sz="1575" b="1">
                <a:solidFill>
                  <a:srgbClr val="10635E"/>
                </a:solidFill>
                <a:latin typeface="Arial"/>
                <a:ea typeface="Arial"/>
                <a:cs typeface="Arial"/>
              </a:rPr>
              <a:t>RESPONSE</a:t>
            </a:r>
          </a:p>
        </p:txBody>
      </p:sp>
      <p:sp>
        <p:nvSpPr>
          <p:cNvPr id="11" name="">
            <a:extLst xmlns:a="http://schemas.openxmlformats.org/drawingml/2006/main">
              <a:ext uri="{FF2B5EF4-FFF2-40B4-BE49-F238E27FC236}">
                <a16:creationId xmlns:a16="http://schemas.microsoft.com/office/drawing/2014/main" id="{375C73F4-FA00-4F40-B3B6-31A365CA8722}"/>
              </a:ext>
            </a:extLst>
          </p:cNvPr>
          <p:cNvSpPr>
            <a:spLocks xmlns:a="http://schemas.openxmlformats.org/drawingml/2006/main" noGrp="1"/>
          </p:cNvSpPr>
          <p:nvPr/>
        </p:nvSpPr>
        <p:spPr>
          <a:xfrm xmlns:a="http://schemas.openxmlformats.org/drawingml/2006/main">
            <a:off x="571500" y="4438650"/>
            <a:ext cx="557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24B"/>
                </a:solidFill>
                <a:latin typeface="Arial"/>
                <a:ea typeface="Arial"/>
                <a:cs typeface="Arial"/>
              </a:defRPr>
            </a:defPPr>
          </a:lstStyle>
          <a:p xmlns:a="http://schemas.openxmlformats.org/drawingml/2006/main">
            <a:pPr>
              <a:defRPr sz="1875" b="0">
                <a:solidFill>
                  <a:srgbClr val="17324B"/>
                </a:solidFill>
                <a:latin typeface="Arial"/>
                <a:ea typeface="Arial"/>
                <a:cs typeface="Arial"/>
              </a:defRPr>
            </a:pPr>
            <a:r>
              <a:rPr sz="1875" b="0">
                <a:solidFill>
                  <a:srgbClr val="17324B"/>
                </a:solidFill>
                <a:latin typeface="Arial"/>
                <a:ea typeface="Arial"/>
                <a:cs typeface="Arial"/>
              </a:rPr>
              <a:t>Supported summary, original links, available dates</a:t>
            </a:r>
          </a:p>
        </p:txBody>
      </p:sp>
      <p:pic>
        <p:nvPicPr>
          <p:cNvPr id="12" name="">
            <a:extLst xmlns:a="http://schemas.openxmlformats.org/drawingml/2006/main">
              <a:ext uri="{FF2B5EF4-FFF2-40B4-BE49-F238E27FC236}">
                <a16:creationId xmlns:a16="http://schemas.microsoft.com/office/drawing/2014/main" id="{4AA75F82-DD18-4C4E-BEA8-A0F76761BDC0}"/>
              </a:ext>
            </a:extLst>
          </p:cNvPr>
          <p:cNvPicPr>
            <a:picLocks xmlns:a="http://schemas.openxmlformats.org/drawingml/2006/main" noChangeAspect="1"/>
          </p:cNvPicPr>
          <p:nvPr/>
        </p:nvPicPr>
        <p:blipFill>
          <a:blip xmlns:r="http://schemas.openxmlformats.org/officeDocument/2006/relationships" xmlns:a="http://schemas.openxmlformats.org/drawingml/2006/main" r:embed="Rf49e1e78fa194288"/>
          <a:stretch xmlns:a="http://schemas.openxmlformats.org/drawingml/2006/main"/>
        </p:blipFill>
        <p:spPr>
          <a:xfrm xmlns:a="http://schemas.openxmlformats.org/drawingml/2006/main">
            <a:off x="6524625" y="1716881"/>
            <a:ext cx="5095875" cy="356711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D8FFE4E-A61C-42D7-B600-844B7F51BF57}"/>
              </a:ext>
            </a:extLst>
          </p:cNvPr>
          <p:cNvSpPr>
            <a:spLocks xmlns:a="http://schemas.openxmlformats.org/drawingml/2006/main" noGrp="1"/>
          </p:cNvSpPr>
          <p:nvPr/>
        </p:nvSpPr>
        <p:spPr>
          <a:xfrm xmlns:a="http://schemas.openxmlformats.org/drawingml/2006/main">
            <a:off x="6524625" y="54102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Sourced news card with a partial-coverage notice</a:t>
            </a:r>
          </a:p>
        </p:txBody>
      </p:sp>
      <p:sp>
        <p:nvSpPr>
          <p:cNvPr id="14" name="">
            <a:extLst xmlns:a="http://schemas.openxmlformats.org/drawingml/2006/main">
              <a:ext uri="{FF2B5EF4-FFF2-40B4-BE49-F238E27FC236}">
                <a16:creationId xmlns:a16="http://schemas.microsoft.com/office/drawing/2014/main" id="{81BA08B6-6266-4AAB-A588-C37F05C44EF7}"/>
              </a:ext>
            </a:extLst>
          </p:cNvPr>
          <p:cNvSpPr>
            <a:spLocks xmlns:a="http://schemas.openxmlformats.org/drawingml/2006/main" noGrp="1"/>
          </p:cNvSpPr>
          <p:nvPr/>
        </p:nvSpPr>
        <p:spPr>
          <a:xfrm xmlns:a="http://schemas.openxmlformats.org/drawingml/2006/main">
            <a:off x="571500" y="5191125"/>
            <a:ext cx="5572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9"/>
                </a:solidFill>
                <a:latin typeface="Arial"/>
                <a:ea typeface="Arial"/>
                <a:cs typeface="Arial"/>
              </a:defRPr>
            </a:def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Tools: search_financial_news, clarification</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Up to 3 searches, stopping early when sufficient</a:t>
            </a:r>
          </a:p>
        </p:txBody>
      </p:sp>
      <p:sp>
        <p:nvSpPr>
          <p:cNvPr id="15" name="">
            <a:extLst xmlns:a="http://schemas.openxmlformats.org/drawingml/2006/main">
              <a:ext uri="{FF2B5EF4-FFF2-40B4-BE49-F238E27FC236}">
                <a16:creationId xmlns:a16="http://schemas.microsoft.com/office/drawing/2014/main" id="{748E8BD0-DBCB-4CDA-A1BC-F54C0ACF3951}"/>
              </a:ext>
            </a:extLst>
          </p:cNvPr>
          <p:cNvSpPr>
            <a:spLocks xmlns:a="http://schemas.openxmlformats.org/drawingml/2006/main" noGrp="1"/>
          </p:cNvSpPr>
          <p:nvPr/>
        </p:nvSpPr>
        <p:spPr>
          <a:xfrm xmlns:a="http://schemas.openxmlformats.org/drawingml/2006/main">
            <a:off x="571500" y="601027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53E65"/>
                </a:solidFill>
                <a:latin typeface="Arial"/>
                <a:ea typeface="Arial"/>
                <a:cs typeface="Arial"/>
              </a:defRPr>
            </a:defPPr>
          </a:lstStyle>
          <a:p xmlns:a="http://schemas.openxmlformats.org/drawingml/2006/main">
            <a:pPr>
              <a:defRPr sz="1725" b="1">
                <a:solidFill>
                  <a:srgbClr val="153E65"/>
                </a:solidFill>
                <a:latin typeface="Arial"/>
                <a:ea typeface="Arial"/>
                <a:cs typeface="Arial"/>
              </a:defRPr>
            </a:pPr>
            <a:r>
              <a:rPr sz="1725" b="1">
                <a:solidFill>
                  <a:srgbClr val="153E65"/>
                </a:solidFill>
                <a:latin typeface="Arial"/>
                <a:ea typeface="Arial"/>
                <a:cs typeface="Arial"/>
              </a:rPr>
              <a:t>Example: “Summarize this week’s technology earnings news with sources.”</a:t>
            </a:r>
          </a:p>
        </p:txBody>
      </p:sp>
    </p:spTree>
    <p:extLst>
      <p:ext uri="{BB962C8B-B14F-4D97-AF65-F5344CB8AC3E}">
        <p14:creationId xmlns:p14="http://schemas.microsoft.com/office/powerpoint/2010/main" val="4669853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57ABD9-70A0-4665-B1B3-7FFBE9F71674}"/>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Guardrails, state and cost controls</a:t>
            </a:r>
          </a:p>
        </p:txBody>
      </p:sp>
      <p:sp>
        <p:nvSpPr>
          <p:cNvPr id="2" name="">
            <a:extLst xmlns:a="http://schemas.openxmlformats.org/drawingml/2006/main">
              <a:ext uri="{FF2B5EF4-FFF2-40B4-BE49-F238E27FC236}">
                <a16:creationId xmlns:a16="http://schemas.microsoft.com/office/drawing/2014/main" id="{9674A5C3-47D7-4457-964D-C44A8CA393E7}"/>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9 / 10</a:t>
            </a:r>
          </a:p>
        </p:txBody>
      </p:sp>
      <p:sp>
        <p:nvSpPr>
          <p:cNvPr id="3" name="">
            <a:extLst xmlns:a="http://schemas.openxmlformats.org/drawingml/2006/main">
              <a:ext uri="{FF2B5EF4-FFF2-40B4-BE49-F238E27FC236}">
                <a16:creationId xmlns:a16="http://schemas.microsoft.com/office/drawing/2014/main" id="{67E91BCE-1F75-4BA4-A2B7-2D7FC914649A}"/>
              </a:ext>
            </a:extLst>
          </p:cNvPr>
          <p:cNvSpPr>
            <a:spLocks xmlns:a="http://schemas.openxmlformats.org/drawingml/2006/main" noGrp="1"/>
          </p:cNvSpPr>
          <p:nvPr/>
        </p:nvSpPr>
        <p:spPr>
          <a:xfrm xmlns:a="http://schemas.openxmlformats.org/drawingml/2006/main">
            <a:off x="571500" y="14763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Input checks</a:t>
            </a:r>
          </a:p>
        </p:txBody>
      </p:sp>
      <p:sp>
        <p:nvSpPr>
          <p:cNvPr id="4" name="">
            <a:extLst xmlns:a="http://schemas.openxmlformats.org/drawingml/2006/main">
              <a:ext uri="{FF2B5EF4-FFF2-40B4-BE49-F238E27FC236}">
                <a16:creationId xmlns:a16="http://schemas.microsoft.com/office/drawing/2014/main" id="{D856EA55-7224-42BA-9557-521CC64F0264}"/>
              </a:ext>
            </a:extLst>
          </p:cNvPr>
          <p:cNvSpPr>
            <a:spLocks xmlns:a="http://schemas.openxmlformats.org/drawingml/2006/main" noGrp="1"/>
          </p:cNvSpPr>
          <p:nvPr/>
        </p:nvSpPr>
        <p:spPr>
          <a:xfrm xmlns:a="http://schemas.openxmlformats.org/drawingml/2006/main">
            <a:off x="571500" y="18859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Presidio PII redaction, regex, moderation, injection detection</a:t>
            </a:r>
          </a:p>
        </p:txBody>
      </p:sp>
      <p:sp>
        <p:nvSpPr>
          <p:cNvPr id="5" name="">
            <a:extLst xmlns:a="http://schemas.openxmlformats.org/drawingml/2006/main">
              <a:ext uri="{FF2B5EF4-FFF2-40B4-BE49-F238E27FC236}">
                <a16:creationId xmlns:a16="http://schemas.microsoft.com/office/drawing/2014/main" id="{8A4BA7A6-5B47-4B2E-AF3F-96A6CE514750}"/>
              </a:ext>
            </a:extLst>
          </p:cNvPr>
          <p:cNvSpPr>
            <a:spLocks xmlns:a="http://schemas.openxmlformats.org/drawingml/2006/main" noGrp="1"/>
          </p:cNvSpPr>
          <p:nvPr/>
        </p:nvSpPr>
        <p:spPr>
          <a:xfrm xmlns:a="http://schemas.openxmlformats.org/drawingml/2006/main">
            <a:off x="571500" y="2543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Output checks</a:t>
            </a:r>
          </a:p>
        </p:txBody>
      </p:sp>
      <p:sp>
        <p:nvSpPr>
          <p:cNvPr id="6" name="">
            <a:extLst xmlns:a="http://schemas.openxmlformats.org/drawingml/2006/main">
              <a:ext uri="{FF2B5EF4-FFF2-40B4-BE49-F238E27FC236}">
                <a16:creationId xmlns:a16="http://schemas.microsoft.com/office/drawing/2014/main" id="{A813AAEE-2CDD-4FE4-82B6-E6AEA1D74827}"/>
              </a:ext>
            </a:extLst>
          </p:cNvPr>
          <p:cNvSpPr>
            <a:spLocks xmlns:a="http://schemas.openxmlformats.org/drawingml/2006/main" noGrp="1"/>
          </p:cNvSpPr>
          <p:nvPr/>
        </p:nvSpPr>
        <p:spPr>
          <a:xfrm xmlns:a="http://schemas.openxmlformats.org/drawingml/2006/main">
            <a:off x="571500" y="29527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PII redaction, empty-answer fallback, API validation</a:t>
            </a:r>
          </a:p>
        </p:txBody>
      </p:sp>
      <p:sp>
        <p:nvSpPr>
          <p:cNvPr id="7" name="">
            <a:extLst xmlns:a="http://schemas.openxmlformats.org/drawingml/2006/main">
              <a:ext uri="{FF2B5EF4-FFF2-40B4-BE49-F238E27FC236}">
                <a16:creationId xmlns:a16="http://schemas.microsoft.com/office/drawing/2014/main" id="{46D0EA1B-92E6-4177-A559-19EE068B846F}"/>
              </a:ext>
            </a:extLst>
          </p:cNvPr>
          <p:cNvSpPr>
            <a:spLocks xmlns:a="http://schemas.openxmlformats.org/drawingml/2006/main" noGrp="1"/>
          </p:cNvSpPr>
          <p:nvPr/>
        </p:nvSpPr>
        <p:spPr>
          <a:xfrm xmlns:a="http://schemas.openxmlformats.org/drawingml/2006/main">
            <a:off x="571500" y="36099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Human in the loop</a:t>
            </a:r>
          </a:p>
        </p:txBody>
      </p:sp>
      <p:sp>
        <p:nvSpPr>
          <p:cNvPr id="8" name="">
            <a:extLst xmlns:a="http://schemas.openxmlformats.org/drawingml/2006/main">
              <a:ext uri="{FF2B5EF4-FFF2-40B4-BE49-F238E27FC236}">
                <a16:creationId xmlns:a16="http://schemas.microsoft.com/office/drawing/2014/main" id="{71949956-FE5E-4FF1-A938-86ABD73F9A30}"/>
              </a:ext>
            </a:extLst>
          </p:cNvPr>
          <p:cNvSpPr>
            <a:spLocks xmlns:a="http://schemas.openxmlformats.org/drawingml/2006/main" noGrp="1"/>
          </p:cNvSpPr>
          <p:nvPr/>
        </p:nvSpPr>
        <p:spPr>
          <a:xfrm xmlns:a="http://schemas.openxmlformats.org/drawingml/2006/main">
            <a:off x="571500" y="40195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LangGraph interrupt, SQLite checkpoint, same-thread resume</a:t>
            </a:r>
          </a:p>
        </p:txBody>
      </p:sp>
      <p:sp>
        <p:nvSpPr>
          <p:cNvPr id="9" name="">
            <a:extLst xmlns:a="http://schemas.openxmlformats.org/drawingml/2006/main">
              <a:ext uri="{FF2B5EF4-FFF2-40B4-BE49-F238E27FC236}">
                <a16:creationId xmlns:a16="http://schemas.microsoft.com/office/drawing/2014/main" id="{5751636A-20C9-4FFD-845E-215423A28AE1}"/>
              </a:ext>
            </a:extLst>
          </p:cNvPr>
          <p:cNvSpPr>
            <a:spLocks xmlns:a="http://schemas.openxmlformats.org/drawingml/2006/main" noGrp="1"/>
          </p:cNvSpPr>
          <p:nvPr/>
        </p:nvSpPr>
        <p:spPr>
          <a:xfrm xmlns:a="http://schemas.openxmlformats.org/drawingml/2006/main">
            <a:off x="571500" y="46767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635E"/>
                </a:solidFill>
                <a:latin typeface="Arial"/>
                <a:ea typeface="Arial"/>
                <a:cs typeface="Arial"/>
              </a:defRPr>
            </a:defPPr>
          </a:lstStyle>
          <a:p xmlns:a="http://schemas.openxmlformats.org/drawingml/2006/main">
            <a:pPr>
              <a:defRPr sz="2175" b="1">
                <a:solidFill>
                  <a:srgbClr val="10635E"/>
                </a:solidFill>
                <a:latin typeface="Arial"/>
                <a:ea typeface="Arial"/>
                <a:cs typeface="Arial"/>
              </a:defRPr>
            </a:pPr>
            <a:r>
              <a:rPr sz="2175" b="1">
                <a:solidFill>
                  <a:srgbClr val="10635E"/>
                </a:solidFill>
                <a:latin typeface="Arial"/>
                <a:ea typeface="Arial"/>
                <a:cs typeface="Arial"/>
              </a:rPr>
              <a:t>Execution controls</a:t>
            </a:r>
          </a:p>
        </p:txBody>
      </p:sp>
      <p:sp>
        <p:nvSpPr>
          <p:cNvPr id="10" name="">
            <a:extLst xmlns:a="http://schemas.openxmlformats.org/drawingml/2006/main">
              <a:ext uri="{FF2B5EF4-FFF2-40B4-BE49-F238E27FC236}">
                <a16:creationId xmlns:a16="http://schemas.microsoft.com/office/drawing/2014/main" id="{2491F0CD-1BF1-4857-9EB0-E69B6E6177CF}"/>
              </a:ext>
            </a:extLst>
          </p:cNvPr>
          <p:cNvSpPr>
            <a:spLocks xmlns:a="http://schemas.openxmlformats.org/drawingml/2006/main" noGrp="1"/>
          </p:cNvSpPr>
          <p:nvPr/>
        </p:nvSpPr>
        <p:spPr>
          <a:xfrm xmlns:a="http://schemas.openxmlformats.org/drawingml/2006/main">
            <a:off x="571500" y="50863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Timeouts, bounded tool work, caches, selective retries</a:t>
            </a:r>
          </a:p>
        </p:txBody>
      </p:sp>
    </p:spTree>
    <p:extLst>
      <p:ext uri="{BB962C8B-B14F-4D97-AF65-F5344CB8AC3E}">
        <p14:creationId xmlns:p14="http://schemas.microsoft.com/office/powerpoint/2010/main" val="4839459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F0A200-2A0D-42C1-8D15-7EE50CCC4047}"/>
              </a:ext>
            </a:extLst>
          </p:cNvPr>
          <p:cNvSpPr>
            <a:spLocks xmlns:a="http://schemas.openxmlformats.org/drawingml/2006/main" noGrp="1"/>
          </p:cNvSpPr>
          <p:nvPr/>
        </p:nvSpPr>
        <p:spPr>
          <a:xfrm xmlns:a="http://schemas.openxmlformats.org/drawingml/2006/main">
            <a:off x="571500" y="3429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E65"/>
                </a:solidFill>
                <a:latin typeface="Arial"/>
                <a:ea typeface="Arial"/>
                <a:cs typeface="Arial"/>
              </a:defRPr>
            </a:defPPr>
          </a:lstStyle>
          <a:p xmlns:a="http://schemas.openxmlformats.org/drawingml/2006/main">
            <a:pPr>
              <a:defRPr sz="3150" b="1">
                <a:solidFill>
                  <a:srgbClr val="153E65"/>
                </a:solidFill>
                <a:latin typeface="Arial"/>
                <a:ea typeface="Arial"/>
                <a:cs typeface="Arial"/>
              </a:defRPr>
            </a:pPr>
            <a:r>
              <a:rPr sz="3150" b="1">
                <a:solidFill>
                  <a:srgbClr val="153E65"/>
                </a:solidFill>
                <a:latin typeface="Arial"/>
                <a:ea typeface="Arial"/>
                <a:cs typeface="Arial"/>
              </a:rPr>
              <a:t>Evaluation and execution tracing</a:t>
            </a:r>
          </a:p>
        </p:txBody>
      </p:sp>
      <p:sp>
        <p:nvSpPr>
          <p:cNvPr id="2" name="">
            <a:extLst xmlns:a="http://schemas.openxmlformats.org/drawingml/2006/main">
              <a:ext uri="{FF2B5EF4-FFF2-40B4-BE49-F238E27FC236}">
                <a16:creationId xmlns:a16="http://schemas.microsoft.com/office/drawing/2014/main" id="{57A9E5D1-F784-44E2-8A22-FE697A7EF34D}"/>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779"/>
                </a:solidFill>
                <a:latin typeface="Arial"/>
                <a:ea typeface="Arial"/>
                <a:cs typeface="Arial"/>
              </a:defRPr>
            </a:def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FinPilot   10 / 10</a:t>
            </a:r>
          </a:p>
        </p:txBody>
      </p:sp>
      <p:sp>
        <p:nvSpPr>
          <p:cNvPr id="3" name="">
            <a:extLst xmlns:a="http://schemas.openxmlformats.org/drawingml/2006/main">
              <a:ext uri="{FF2B5EF4-FFF2-40B4-BE49-F238E27FC236}">
                <a16:creationId xmlns:a16="http://schemas.microsoft.com/office/drawing/2014/main" id="{D87619DB-57B6-452E-86B6-9BA513D32F51}"/>
              </a:ext>
            </a:extLst>
          </p:cNvPr>
          <p:cNvSpPr>
            <a:spLocks xmlns:a="http://schemas.openxmlformats.org/drawingml/2006/main" noGrp="1"/>
          </p:cNvSpPr>
          <p:nvPr/>
        </p:nvSpPr>
        <p:spPr>
          <a:xfrm xmlns:a="http://schemas.openxmlformats.org/drawingml/2006/main">
            <a:off x="571500" y="12858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635E"/>
                </a:solidFill>
                <a:latin typeface="Arial"/>
                <a:ea typeface="Arial"/>
                <a:cs typeface="Arial"/>
              </a:defRPr>
            </a:defPPr>
          </a:lstStyle>
          <a:p xmlns:a="http://schemas.openxmlformats.org/drawingml/2006/main">
            <a:pPr>
              <a:defRPr sz="2400" b="1">
                <a:solidFill>
                  <a:srgbClr val="10635E"/>
                </a:solidFill>
                <a:latin typeface="Arial"/>
                <a:ea typeface="Arial"/>
                <a:cs typeface="Arial"/>
              </a:defRPr>
            </a:pPr>
            <a:r>
              <a:rPr sz="2400" b="1">
                <a:solidFill>
                  <a:srgbClr val="10635E"/>
                </a:solidFill>
                <a:latin typeface="Arial"/>
                <a:ea typeface="Arial"/>
                <a:cs typeface="Arial"/>
              </a:rPr>
              <a:t>Evaluation</a:t>
            </a:r>
          </a:p>
        </p:txBody>
      </p:sp>
      <p:sp>
        <p:nvSpPr>
          <p:cNvPr id="4" name="">
            <a:extLst xmlns:a="http://schemas.openxmlformats.org/drawingml/2006/main">
              <a:ext uri="{FF2B5EF4-FFF2-40B4-BE49-F238E27FC236}">
                <a16:creationId xmlns:a16="http://schemas.microsoft.com/office/drawing/2014/main" id="{9D8E993F-4B12-4903-A503-41F684ED17C4}"/>
              </a:ext>
            </a:extLst>
          </p:cNvPr>
          <p:cNvSpPr>
            <a:spLocks xmlns:a="http://schemas.openxmlformats.org/drawingml/2006/main" noGrp="1"/>
          </p:cNvSpPr>
          <p:nvPr/>
        </p:nvSpPr>
        <p:spPr>
          <a:xfrm xmlns:a="http://schemas.openxmlformats.org/drawingml/2006/main">
            <a:off x="571500" y="1924050"/>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Router cases and prompt A/B variants</a:t>
            </a:r>
          </a:p>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Intent, handler and route correctness</a:t>
            </a:r>
          </a:p>
        </p:txBody>
      </p:sp>
      <p:sp>
        <p:nvSpPr>
          <p:cNvPr id="5" name="">
            <a:extLst xmlns:a="http://schemas.openxmlformats.org/drawingml/2006/main">
              <a:ext uri="{FF2B5EF4-FFF2-40B4-BE49-F238E27FC236}">
                <a16:creationId xmlns:a16="http://schemas.microsoft.com/office/drawing/2014/main" id="{D00F12F3-593E-4520-83D3-7652B9F2B82E}"/>
              </a:ext>
            </a:extLst>
          </p:cNvPr>
          <p:cNvSpPr>
            <a:spLocks xmlns:a="http://schemas.openxmlformats.org/drawingml/2006/main" noGrp="1"/>
          </p:cNvSpPr>
          <p:nvPr/>
        </p:nvSpPr>
        <p:spPr>
          <a:xfrm xmlns:a="http://schemas.openxmlformats.org/drawingml/2006/main">
            <a:off x="571500" y="31908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635E"/>
                </a:solidFill>
                <a:latin typeface="Arial"/>
                <a:ea typeface="Arial"/>
                <a:cs typeface="Arial"/>
              </a:defRPr>
            </a:defPPr>
          </a:lstStyle>
          <a:p xmlns:a="http://schemas.openxmlformats.org/drawingml/2006/main">
            <a:pPr>
              <a:defRPr sz="2400" b="1">
                <a:solidFill>
                  <a:srgbClr val="10635E"/>
                </a:solidFill>
                <a:latin typeface="Arial"/>
                <a:ea typeface="Arial"/>
                <a:cs typeface="Arial"/>
              </a:defRPr>
            </a:pPr>
            <a:r>
              <a:rPr sz="2400" b="1">
                <a:solidFill>
                  <a:srgbClr val="10635E"/>
                </a:solidFill>
                <a:latin typeface="Arial"/>
                <a:ea typeface="Arial"/>
                <a:cs typeface="Arial"/>
              </a:rPr>
              <a:t>LangSmith tracing</a:t>
            </a:r>
          </a:p>
        </p:txBody>
      </p:sp>
      <p:sp>
        <p:nvSpPr>
          <p:cNvPr id="6" name="">
            <a:extLst xmlns:a="http://schemas.openxmlformats.org/drawingml/2006/main">
              <a:ext uri="{FF2B5EF4-FFF2-40B4-BE49-F238E27FC236}">
                <a16:creationId xmlns:a16="http://schemas.microsoft.com/office/drawing/2014/main" id="{48E81C34-9EB1-43C1-A78F-8BC94817239E}"/>
              </a:ext>
            </a:extLst>
          </p:cNvPr>
          <p:cNvSpPr>
            <a:spLocks xmlns:a="http://schemas.openxmlformats.org/drawingml/2006/main" noGrp="1"/>
          </p:cNvSpPr>
          <p:nvPr/>
        </p:nvSpPr>
        <p:spPr>
          <a:xfrm xmlns:a="http://schemas.openxmlformats.org/drawingml/2006/main">
            <a:off x="571500" y="3810000"/>
            <a:ext cx="609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24B"/>
                </a:solidFill>
                <a:latin typeface="Arial"/>
                <a:ea typeface="Arial"/>
                <a:cs typeface="Arial"/>
              </a:defRPr>
            </a:defPPr>
          </a:lstStyle>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One request with nested agent/tool spans</a:t>
            </a:r>
          </a:p>
          <a:p xmlns:a="http://schemas.openxmlformats.org/drawingml/2006/main">
            <a:pPr>
              <a:defRPr sz="2025" b="0">
                <a:solidFill>
                  <a:srgbClr val="17324B"/>
                </a:solidFill>
                <a:latin typeface="Arial"/>
                <a:ea typeface="Arial"/>
                <a:cs typeface="Arial"/>
              </a:defRPr>
            </a:pPr>
            <a:r>
              <a:rPr sz="2025" b="0">
                <a:solidFill>
                  <a:srgbClr val="17324B"/>
                </a:solidFill>
                <a:latin typeface="Arial"/>
                <a:ea typeface="Arial"/>
                <a:cs typeface="Arial"/>
              </a:rPr>
              <a:t>Latency, tokens, cache activity and cost</a:t>
            </a:r>
          </a:p>
        </p:txBody>
      </p:sp>
      <p:sp>
        <p:nvSpPr>
          <p:cNvPr id="7" name="">
            <a:extLst xmlns:a="http://schemas.openxmlformats.org/drawingml/2006/main">
              <a:ext uri="{FF2B5EF4-FFF2-40B4-BE49-F238E27FC236}">
                <a16:creationId xmlns:a16="http://schemas.microsoft.com/office/drawing/2014/main" id="{15385BFA-966F-4012-ADCD-E47CCD92A612}"/>
              </a:ext>
            </a:extLst>
          </p:cNvPr>
          <p:cNvSpPr>
            <a:spLocks xmlns:a="http://schemas.openxmlformats.org/drawingml/2006/main" noGrp="1"/>
          </p:cNvSpPr>
          <p:nvPr/>
        </p:nvSpPr>
        <p:spPr>
          <a:xfrm xmlns:a="http://schemas.openxmlformats.org/drawingml/2006/main">
            <a:off x="571500" y="5286375"/>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779"/>
                </a:solidFill>
                <a:latin typeface="Arial"/>
                <a:ea typeface="Arial"/>
                <a:cs typeface="Arial"/>
              </a:defRPr>
            </a:defPPr>
          </a:lstStyle>
          <a:p xmlns:a="http://schemas.openxmlformats.org/drawingml/2006/main">
            <a:pPr>
              <a:defRPr sz="1875" b="0">
                <a:solidFill>
                  <a:srgbClr val="526779"/>
                </a:solidFill>
                <a:latin typeface="Arial"/>
                <a:ea typeface="Arial"/>
                <a:cs typeface="Arial"/>
              </a:defRPr>
            </a:pPr>
            <a:r>
              <a:rPr sz="1875" b="0">
                <a:solidFill>
                  <a:srgbClr val="526779"/>
                </a:solidFill>
                <a:latin typeface="Arial"/>
                <a:ea typeface="Arial"/>
                <a:cs typeface="Arial"/>
              </a:rPr>
              <a:t>Next: broader answer-quality evaluation</a:t>
            </a:r>
          </a:p>
          <a:p xmlns:a="http://schemas.openxmlformats.org/drawingml/2006/main">
            <a:pPr>
              <a:defRPr sz="1875" b="0">
                <a:solidFill>
                  <a:srgbClr val="526779"/>
                </a:solidFill>
                <a:latin typeface="Arial"/>
                <a:ea typeface="Arial"/>
                <a:cs typeface="Arial"/>
              </a:defRPr>
            </a:pPr>
            <a:r>
              <a:rPr sz="1875" b="0">
                <a:solidFill>
                  <a:srgbClr val="526779"/>
                </a:solidFill>
                <a:latin typeface="Arial"/>
                <a:ea typeface="Arial"/>
                <a:cs typeface="Arial"/>
              </a:rPr>
              <a:t>and production identity integration</a:t>
            </a:r>
          </a:p>
        </p:txBody>
      </p:sp>
      <p:pic>
        <p:nvPicPr>
          <p:cNvPr id="8" name="">
            <a:extLst xmlns:a="http://schemas.openxmlformats.org/drawingml/2006/main">
              <a:ext uri="{FF2B5EF4-FFF2-40B4-BE49-F238E27FC236}">
                <a16:creationId xmlns:a16="http://schemas.microsoft.com/office/drawing/2014/main" id="{E84BFA87-8607-4C72-AC54-14ED1503C61A}"/>
              </a:ext>
            </a:extLst>
          </p:cNvPr>
          <p:cNvPicPr>
            <a:picLocks xmlns:a="http://schemas.openxmlformats.org/drawingml/2006/main" noChangeAspect="1"/>
          </p:cNvPicPr>
          <p:nvPr/>
        </p:nvPicPr>
        <p:blipFill>
          <a:blip xmlns:r="http://schemas.openxmlformats.org/officeDocument/2006/relationships" xmlns:a="http://schemas.openxmlformats.org/drawingml/2006/main" r:embed="R6be0a70eadc34dbd"/>
          <a:stretch xmlns:a="http://schemas.openxmlformats.org/drawingml/2006/main"/>
        </p:blipFill>
        <p:spPr>
          <a:xfrm xmlns:a="http://schemas.openxmlformats.org/drawingml/2006/main">
            <a:off x="8005927" y="1162050"/>
            <a:ext cx="2561897" cy="4953000"/>
          </a:xfrm>
          <a:prstGeom xmlns:a="http://schemas.openxmlformats.org/drawingml/2006/main" prst="rect">
            <a:avLst/>
          </a:prstGeom>
        </p:spPr>
      </p:pic>
    </p:spTree>
    <p:extLst>
      <p:ext uri="{BB962C8B-B14F-4D97-AF65-F5344CB8AC3E}">
        <p14:creationId xmlns:p14="http://schemas.microsoft.com/office/powerpoint/2010/main" val="6564009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2026-10-31T20:14:43.5380000Z</dcterms:created>
  <dcterms:modified xsi:type="dcterms:W3CDTF">2026-10-31T20:14:43.5380000Z</dcterms:modified>
</coreProperties>
</file>